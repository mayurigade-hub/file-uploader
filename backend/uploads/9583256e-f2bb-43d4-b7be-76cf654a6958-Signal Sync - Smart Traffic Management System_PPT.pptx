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9" r:id="rId3"/>
    <p:sldId id="262" r:id="rId4"/>
    <p:sldId id="263" r:id="rId5"/>
    <p:sldId id="266" r:id="rId6"/>
    <p:sldId id="265" r:id="rId7"/>
    <p:sldId id="268" r:id="rId8"/>
    <p:sldId id="267" r:id="rId9"/>
    <p:sldId id="273" r:id="rId10"/>
    <p:sldId id="270" r:id="rId11"/>
    <p:sldId id="274" r:id="rId12"/>
    <p:sldId id="275" r:id="rId13"/>
    <p:sldId id="269" r:id="rId14"/>
    <p:sldId id="276" r:id="rId15"/>
    <p:sldId id="264" r:id="rId16"/>
    <p:sldId id="277" r:id="rId17"/>
    <p:sldId id="278" r:id="rId18"/>
    <p:sldId id="272" r:id="rId19"/>
    <p:sldId id="279" r:id="rId20"/>
    <p:sldId id="271" r:id="rId21"/>
  </p:sldIdLst>
  <p:sldSz cx="12192000" cy="6858000"/>
  <p:notesSz cx="6858000" cy="9144000"/>
  <p:defaultTextStyle>
    <a:defPPr>
      <a:defRPr lang="en-IN"/>
    </a:defPPr>
    <a:lvl1pPr algn="l" rtl="0" fontAlgn="base">
      <a:spcBef>
        <a:spcPct val="0"/>
      </a:spcBef>
      <a:spcAft>
        <a:spcPct val="0"/>
      </a:spcAft>
      <a:defRPr kern="1200">
        <a:solidFill>
          <a:schemeClr val="tx1"/>
        </a:solidFill>
        <a:latin typeface="Aptos" panose="020B0004020202020204" pitchFamily="34" charset="0"/>
        <a:ea typeface="+mn-ea"/>
        <a:cs typeface="+mn-cs"/>
      </a:defRPr>
    </a:lvl1pPr>
    <a:lvl2pPr marL="457200" algn="l" rtl="0" fontAlgn="base">
      <a:spcBef>
        <a:spcPct val="0"/>
      </a:spcBef>
      <a:spcAft>
        <a:spcPct val="0"/>
      </a:spcAft>
      <a:defRPr kern="1200">
        <a:solidFill>
          <a:schemeClr val="tx1"/>
        </a:solidFill>
        <a:latin typeface="Aptos" panose="020B0004020202020204" pitchFamily="34" charset="0"/>
        <a:ea typeface="+mn-ea"/>
        <a:cs typeface="+mn-cs"/>
      </a:defRPr>
    </a:lvl2pPr>
    <a:lvl3pPr marL="914400" algn="l" rtl="0" fontAlgn="base">
      <a:spcBef>
        <a:spcPct val="0"/>
      </a:spcBef>
      <a:spcAft>
        <a:spcPct val="0"/>
      </a:spcAft>
      <a:defRPr kern="1200">
        <a:solidFill>
          <a:schemeClr val="tx1"/>
        </a:solidFill>
        <a:latin typeface="Aptos" panose="020B0004020202020204" pitchFamily="34" charset="0"/>
        <a:ea typeface="+mn-ea"/>
        <a:cs typeface="+mn-cs"/>
      </a:defRPr>
    </a:lvl3pPr>
    <a:lvl4pPr marL="1371600" algn="l" rtl="0" fontAlgn="base">
      <a:spcBef>
        <a:spcPct val="0"/>
      </a:spcBef>
      <a:spcAft>
        <a:spcPct val="0"/>
      </a:spcAft>
      <a:defRPr kern="1200">
        <a:solidFill>
          <a:schemeClr val="tx1"/>
        </a:solidFill>
        <a:latin typeface="Aptos" panose="020B0004020202020204" pitchFamily="34" charset="0"/>
        <a:ea typeface="+mn-ea"/>
        <a:cs typeface="+mn-cs"/>
      </a:defRPr>
    </a:lvl4pPr>
    <a:lvl5pPr marL="1828800" algn="l" rtl="0" fontAlgn="base">
      <a:spcBef>
        <a:spcPct val="0"/>
      </a:spcBef>
      <a:spcAft>
        <a:spcPct val="0"/>
      </a:spcAft>
      <a:defRPr kern="1200">
        <a:solidFill>
          <a:schemeClr val="tx1"/>
        </a:solidFill>
        <a:latin typeface="Aptos" panose="020B0004020202020204" pitchFamily="34" charset="0"/>
        <a:ea typeface="+mn-ea"/>
        <a:cs typeface="+mn-cs"/>
      </a:defRPr>
    </a:lvl5pPr>
    <a:lvl6pPr marL="2286000" algn="l" defTabSz="914400" rtl="0" eaLnBrk="1" latinLnBrk="0" hangingPunct="1">
      <a:defRPr kern="1200">
        <a:solidFill>
          <a:schemeClr val="tx1"/>
        </a:solidFill>
        <a:latin typeface="Aptos" panose="020B0004020202020204" pitchFamily="34" charset="0"/>
        <a:ea typeface="+mn-ea"/>
        <a:cs typeface="+mn-cs"/>
      </a:defRPr>
    </a:lvl6pPr>
    <a:lvl7pPr marL="2743200" algn="l" defTabSz="914400" rtl="0" eaLnBrk="1" latinLnBrk="0" hangingPunct="1">
      <a:defRPr kern="1200">
        <a:solidFill>
          <a:schemeClr val="tx1"/>
        </a:solidFill>
        <a:latin typeface="Aptos" panose="020B0004020202020204" pitchFamily="34" charset="0"/>
        <a:ea typeface="+mn-ea"/>
        <a:cs typeface="+mn-cs"/>
      </a:defRPr>
    </a:lvl7pPr>
    <a:lvl8pPr marL="3200400" algn="l" defTabSz="914400" rtl="0" eaLnBrk="1" latinLnBrk="0" hangingPunct="1">
      <a:defRPr kern="1200">
        <a:solidFill>
          <a:schemeClr val="tx1"/>
        </a:solidFill>
        <a:latin typeface="Aptos" panose="020B0004020202020204" pitchFamily="34" charset="0"/>
        <a:ea typeface="+mn-ea"/>
        <a:cs typeface="+mn-cs"/>
      </a:defRPr>
    </a:lvl8pPr>
    <a:lvl9pPr marL="3657600" algn="l" defTabSz="914400" rtl="0" eaLnBrk="1" latinLnBrk="0" hangingPunct="1">
      <a:defRPr kern="1200">
        <a:solidFill>
          <a:schemeClr val="tx1"/>
        </a:solidFill>
        <a:latin typeface="Aptos" panose="020B00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autoAdjust="0"/>
  </p:normalViewPr>
  <p:slideViewPr>
    <p:cSldViewPr snapToGrid="0">
      <p:cViewPr varScale="1">
        <p:scale>
          <a:sx n="63" d="100"/>
          <a:sy n="63" d="100"/>
        </p:scale>
        <p:origin x="804"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noProof="1"/>
              <a:t>Click to edit Master title style</a:t>
            </a:r>
            <a:endParaRPr lang="en-IN"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Click to edit Master subtitle style</a:t>
            </a:r>
            <a:endParaRPr lang="en-IN" noProof="1"/>
          </a:p>
        </p:txBody>
      </p:sp>
      <p:sp>
        <p:nvSpPr>
          <p:cNvPr id="4" name="Date Placeholder 3">
            <a:extLst>
              <a:ext uri="{FF2B5EF4-FFF2-40B4-BE49-F238E27FC236}">
                <a16:creationId xmlns:a16="http://schemas.microsoft.com/office/drawing/2014/main" id="{9B9A7C25-9BB4-A797-A808-5789C13EDBC5}"/>
              </a:ext>
            </a:extLst>
          </p:cNvPr>
          <p:cNvSpPr>
            <a:spLocks noGrp="1"/>
          </p:cNvSpPr>
          <p:nvPr>
            <p:ph type="dt" sz="half" idx="10"/>
          </p:nvPr>
        </p:nvSpPr>
        <p:spPr/>
        <p:txBody>
          <a:bodyPr/>
          <a:lstStyle>
            <a:lvl1pPr>
              <a:defRPr/>
            </a:lvl1pPr>
          </a:lstStyle>
          <a:p>
            <a:fld id="{5C166989-ACF7-4ED2-A7CC-9C8581800993}" type="datetimeFigureOut">
              <a:rPr lang="en-IN"/>
              <a:pPr/>
              <a:t>26-04-2026</a:t>
            </a:fld>
            <a:endParaRPr lang="en-IN"/>
          </a:p>
        </p:txBody>
      </p:sp>
      <p:sp>
        <p:nvSpPr>
          <p:cNvPr id="5" name="Footer Placeholder 4">
            <a:extLst>
              <a:ext uri="{FF2B5EF4-FFF2-40B4-BE49-F238E27FC236}">
                <a16:creationId xmlns:a16="http://schemas.microsoft.com/office/drawing/2014/main" id="{4C5B3968-A31E-8288-0B9E-B69E6018D550}"/>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EA0B1A66-5280-013D-2090-5FC1C1AB6934}"/>
              </a:ext>
            </a:extLst>
          </p:cNvPr>
          <p:cNvSpPr>
            <a:spLocks noGrp="1"/>
          </p:cNvSpPr>
          <p:nvPr>
            <p:ph type="sldNum" sz="quarter" idx="12"/>
          </p:nvPr>
        </p:nvSpPr>
        <p:spPr/>
        <p:txBody>
          <a:bodyPr/>
          <a:lstStyle>
            <a:lvl1pPr>
              <a:defRPr/>
            </a:lvl1pPr>
          </a:lstStyle>
          <a:p>
            <a:fld id="{7BFDA3E8-DE4D-4E8C-B839-CE3BB856F77F}" type="slidenum">
              <a:rPr lang="en-IN" altLang="en-US"/>
              <a:pPr/>
              <a:t>‹#›</a:t>
            </a:fld>
            <a:endParaRPr lang="en-IN" altLang="en-US"/>
          </a:p>
        </p:txBody>
      </p:sp>
    </p:spTree>
    <p:extLst>
      <p:ext uri="{BB962C8B-B14F-4D97-AF65-F5344CB8AC3E}">
        <p14:creationId xmlns:p14="http://schemas.microsoft.com/office/powerpoint/2010/main" val="2618877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idx="1"/>
          </p:nvPr>
        </p:nvSpPr>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A2273CEC-4C91-7051-1257-0724A667B9A4}"/>
              </a:ext>
            </a:extLst>
          </p:cNvPr>
          <p:cNvSpPr>
            <a:spLocks noGrp="1"/>
          </p:cNvSpPr>
          <p:nvPr>
            <p:ph type="dt" sz="half" idx="10"/>
          </p:nvPr>
        </p:nvSpPr>
        <p:spPr/>
        <p:txBody>
          <a:bodyPr/>
          <a:lstStyle>
            <a:lvl1pPr>
              <a:defRPr/>
            </a:lvl1pPr>
          </a:lstStyle>
          <a:p>
            <a:fld id="{5C166989-ACF7-4ED2-A7CC-9C8581800993}" type="datetimeFigureOut">
              <a:rPr lang="en-IN"/>
              <a:pPr/>
              <a:t>26-04-2026</a:t>
            </a:fld>
            <a:endParaRPr lang="en-IN"/>
          </a:p>
        </p:txBody>
      </p:sp>
      <p:sp>
        <p:nvSpPr>
          <p:cNvPr id="5" name="Footer Placeholder 4">
            <a:extLst>
              <a:ext uri="{FF2B5EF4-FFF2-40B4-BE49-F238E27FC236}">
                <a16:creationId xmlns:a16="http://schemas.microsoft.com/office/drawing/2014/main" id="{F554AFCE-4719-24F0-444F-AA95D1B2BC49}"/>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08276E91-61EF-FC81-AA2F-A82B0823584B}"/>
              </a:ext>
            </a:extLst>
          </p:cNvPr>
          <p:cNvSpPr>
            <a:spLocks noGrp="1"/>
          </p:cNvSpPr>
          <p:nvPr>
            <p:ph type="sldNum" sz="quarter" idx="12"/>
          </p:nvPr>
        </p:nvSpPr>
        <p:spPr/>
        <p:txBody>
          <a:bodyPr/>
          <a:lstStyle>
            <a:lvl1pPr>
              <a:defRPr/>
            </a:lvl1pPr>
          </a:lstStyle>
          <a:p>
            <a:fld id="{A5CAF28B-4F1D-4CA1-B833-6003701A8B99}" type="slidenum">
              <a:rPr lang="en-IN" altLang="en-US"/>
              <a:pPr/>
              <a:t>‹#›</a:t>
            </a:fld>
            <a:endParaRPr lang="en-IN" altLang="en-US"/>
          </a:p>
        </p:txBody>
      </p:sp>
    </p:spTree>
    <p:extLst>
      <p:ext uri="{BB962C8B-B14F-4D97-AF65-F5344CB8AC3E}">
        <p14:creationId xmlns:p14="http://schemas.microsoft.com/office/powerpoint/2010/main" val="1640899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noProof="1"/>
              <a:t>Click to edit Master title style</a:t>
            </a:r>
            <a:endParaRPr lang="en-IN"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noProof="1"/>
              <a:t>Click to edit Master text styles</a:t>
            </a:r>
          </a:p>
        </p:txBody>
      </p:sp>
      <p:sp>
        <p:nvSpPr>
          <p:cNvPr id="4" name="Date Placeholder 3">
            <a:extLst>
              <a:ext uri="{FF2B5EF4-FFF2-40B4-BE49-F238E27FC236}">
                <a16:creationId xmlns:a16="http://schemas.microsoft.com/office/drawing/2014/main" id="{0EC44774-BAFA-DC1F-7F8B-3E99C8B7DFDD}"/>
              </a:ext>
            </a:extLst>
          </p:cNvPr>
          <p:cNvSpPr>
            <a:spLocks noGrp="1"/>
          </p:cNvSpPr>
          <p:nvPr>
            <p:ph type="dt" sz="half" idx="10"/>
          </p:nvPr>
        </p:nvSpPr>
        <p:spPr/>
        <p:txBody>
          <a:bodyPr/>
          <a:lstStyle>
            <a:lvl1pPr>
              <a:defRPr/>
            </a:lvl1pPr>
          </a:lstStyle>
          <a:p>
            <a:fld id="{5C166989-ACF7-4ED2-A7CC-9C8581800993}" type="datetimeFigureOut">
              <a:rPr lang="en-IN"/>
              <a:pPr/>
              <a:t>26-04-2026</a:t>
            </a:fld>
            <a:endParaRPr lang="en-IN"/>
          </a:p>
        </p:txBody>
      </p:sp>
      <p:sp>
        <p:nvSpPr>
          <p:cNvPr id="5" name="Footer Placeholder 4">
            <a:extLst>
              <a:ext uri="{FF2B5EF4-FFF2-40B4-BE49-F238E27FC236}">
                <a16:creationId xmlns:a16="http://schemas.microsoft.com/office/drawing/2014/main" id="{71488229-42E8-A64D-E11B-45A5C31956D2}"/>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66A9E1E5-3110-2A87-118B-F17AC8B0F388}"/>
              </a:ext>
            </a:extLst>
          </p:cNvPr>
          <p:cNvSpPr>
            <a:spLocks noGrp="1"/>
          </p:cNvSpPr>
          <p:nvPr>
            <p:ph type="sldNum" sz="quarter" idx="12"/>
          </p:nvPr>
        </p:nvSpPr>
        <p:spPr/>
        <p:txBody>
          <a:bodyPr/>
          <a:lstStyle>
            <a:lvl1pPr>
              <a:defRPr/>
            </a:lvl1pPr>
          </a:lstStyle>
          <a:p>
            <a:fld id="{E4787FD2-F718-4B47-A459-F0112FF802F1}" type="slidenum">
              <a:rPr lang="en-IN" altLang="en-US"/>
              <a:pPr/>
              <a:t>‹#›</a:t>
            </a:fld>
            <a:endParaRPr lang="en-IN" altLang="en-US"/>
          </a:p>
        </p:txBody>
      </p:sp>
    </p:spTree>
    <p:extLst>
      <p:ext uri="{BB962C8B-B14F-4D97-AF65-F5344CB8AC3E}">
        <p14:creationId xmlns:p14="http://schemas.microsoft.com/office/powerpoint/2010/main" val="515215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sz="half" idx="1"/>
          </p:nvPr>
        </p:nvSpPr>
        <p:spPr>
          <a:xfrm>
            <a:off x="838200" y="1825625"/>
            <a:ext cx="5181600" cy="435133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Content Placeholder 3"/>
          <p:cNvSpPr>
            <a:spLocks noGrp="1"/>
          </p:cNvSpPr>
          <p:nvPr>
            <p:ph sz="half" idx="2"/>
          </p:nvPr>
        </p:nvSpPr>
        <p:spPr>
          <a:xfrm>
            <a:off x="6172200" y="1825625"/>
            <a:ext cx="5181600" cy="435133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Date Placeholder 3">
            <a:extLst>
              <a:ext uri="{FF2B5EF4-FFF2-40B4-BE49-F238E27FC236}">
                <a16:creationId xmlns:a16="http://schemas.microsoft.com/office/drawing/2014/main" id="{05530C4D-4542-2996-583A-AA59126B28F3}"/>
              </a:ext>
            </a:extLst>
          </p:cNvPr>
          <p:cNvSpPr>
            <a:spLocks noGrp="1"/>
          </p:cNvSpPr>
          <p:nvPr>
            <p:ph type="dt" sz="half" idx="10"/>
          </p:nvPr>
        </p:nvSpPr>
        <p:spPr/>
        <p:txBody>
          <a:bodyPr/>
          <a:lstStyle>
            <a:lvl1pPr>
              <a:defRPr/>
            </a:lvl1pPr>
          </a:lstStyle>
          <a:p>
            <a:fld id="{5C166989-ACF7-4ED2-A7CC-9C8581800993}" type="datetimeFigureOut">
              <a:rPr lang="en-IN"/>
              <a:pPr/>
              <a:t>26-04-2026</a:t>
            </a:fld>
            <a:endParaRPr lang="en-IN"/>
          </a:p>
        </p:txBody>
      </p:sp>
      <p:sp>
        <p:nvSpPr>
          <p:cNvPr id="6" name="Footer Placeholder 4">
            <a:extLst>
              <a:ext uri="{FF2B5EF4-FFF2-40B4-BE49-F238E27FC236}">
                <a16:creationId xmlns:a16="http://schemas.microsoft.com/office/drawing/2014/main" id="{9397F368-52BF-BA68-E22D-1F595DD1C276}"/>
              </a:ext>
            </a:extLst>
          </p:cNvPr>
          <p:cNvSpPr>
            <a:spLocks noGrp="1"/>
          </p:cNvSpPr>
          <p:nvPr>
            <p:ph type="ftr" sz="quarter" idx="11"/>
          </p:nvPr>
        </p:nvSpPr>
        <p:spPr/>
        <p:txBody>
          <a:bodyPr/>
          <a:lstStyle>
            <a:lvl1pPr>
              <a:defRPr/>
            </a:lvl1pPr>
          </a:lstStyle>
          <a:p>
            <a:endParaRPr lang="en-IN"/>
          </a:p>
        </p:txBody>
      </p:sp>
      <p:sp>
        <p:nvSpPr>
          <p:cNvPr id="7" name="Slide Number Placeholder 5">
            <a:extLst>
              <a:ext uri="{FF2B5EF4-FFF2-40B4-BE49-F238E27FC236}">
                <a16:creationId xmlns:a16="http://schemas.microsoft.com/office/drawing/2014/main" id="{8B7CD69F-0DAC-FE7E-20CE-B72044318B04}"/>
              </a:ext>
            </a:extLst>
          </p:cNvPr>
          <p:cNvSpPr>
            <a:spLocks noGrp="1"/>
          </p:cNvSpPr>
          <p:nvPr>
            <p:ph type="sldNum" sz="quarter" idx="12"/>
          </p:nvPr>
        </p:nvSpPr>
        <p:spPr/>
        <p:txBody>
          <a:bodyPr/>
          <a:lstStyle>
            <a:lvl1pPr>
              <a:defRPr/>
            </a:lvl1pPr>
          </a:lstStyle>
          <a:p>
            <a:fld id="{77BBC8AD-57EB-43EA-B472-EA98A794D490}" type="slidenum">
              <a:rPr lang="en-IN" altLang="en-US"/>
              <a:pPr/>
              <a:t>‹#›</a:t>
            </a:fld>
            <a:endParaRPr lang="en-IN" altLang="en-US"/>
          </a:p>
        </p:txBody>
      </p:sp>
    </p:spTree>
    <p:extLst>
      <p:ext uri="{BB962C8B-B14F-4D97-AF65-F5344CB8AC3E}">
        <p14:creationId xmlns:p14="http://schemas.microsoft.com/office/powerpoint/2010/main" val="4212001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noProof="1"/>
              <a:t>Click to edit Master title style</a:t>
            </a:r>
            <a:endParaRPr lang="en-IN"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7" name="Date Placeholder 3">
            <a:extLst>
              <a:ext uri="{FF2B5EF4-FFF2-40B4-BE49-F238E27FC236}">
                <a16:creationId xmlns:a16="http://schemas.microsoft.com/office/drawing/2014/main" id="{A30B2147-B406-352C-BF3C-9D0EDCD58792}"/>
              </a:ext>
            </a:extLst>
          </p:cNvPr>
          <p:cNvSpPr>
            <a:spLocks noGrp="1"/>
          </p:cNvSpPr>
          <p:nvPr>
            <p:ph type="dt" sz="half" idx="10"/>
          </p:nvPr>
        </p:nvSpPr>
        <p:spPr/>
        <p:txBody>
          <a:bodyPr/>
          <a:lstStyle>
            <a:lvl1pPr>
              <a:defRPr/>
            </a:lvl1pPr>
          </a:lstStyle>
          <a:p>
            <a:fld id="{5C166989-ACF7-4ED2-A7CC-9C8581800993}" type="datetimeFigureOut">
              <a:rPr lang="en-IN"/>
              <a:pPr/>
              <a:t>26-04-2026</a:t>
            </a:fld>
            <a:endParaRPr lang="en-IN"/>
          </a:p>
        </p:txBody>
      </p:sp>
      <p:sp>
        <p:nvSpPr>
          <p:cNvPr id="8" name="Footer Placeholder 4">
            <a:extLst>
              <a:ext uri="{FF2B5EF4-FFF2-40B4-BE49-F238E27FC236}">
                <a16:creationId xmlns:a16="http://schemas.microsoft.com/office/drawing/2014/main" id="{F7930CD2-345B-4279-5668-486A9F60E461}"/>
              </a:ext>
            </a:extLst>
          </p:cNvPr>
          <p:cNvSpPr>
            <a:spLocks noGrp="1"/>
          </p:cNvSpPr>
          <p:nvPr>
            <p:ph type="ftr" sz="quarter" idx="11"/>
          </p:nvPr>
        </p:nvSpPr>
        <p:spPr/>
        <p:txBody>
          <a:bodyPr/>
          <a:lstStyle>
            <a:lvl1pPr>
              <a:defRPr/>
            </a:lvl1pPr>
          </a:lstStyle>
          <a:p>
            <a:endParaRPr lang="en-IN"/>
          </a:p>
        </p:txBody>
      </p:sp>
      <p:sp>
        <p:nvSpPr>
          <p:cNvPr id="9" name="Slide Number Placeholder 5">
            <a:extLst>
              <a:ext uri="{FF2B5EF4-FFF2-40B4-BE49-F238E27FC236}">
                <a16:creationId xmlns:a16="http://schemas.microsoft.com/office/drawing/2014/main" id="{1D83B317-8E77-6191-24AC-987343F20556}"/>
              </a:ext>
            </a:extLst>
          </p:cNvPr>
          <p:cNvSpPr>
            <a:spLocks noGrp="1"/>
          </p:cNvSpPr>
          <p:nvPr>
            <p:ph type="sldNum" sz="quarter" idx="12"/>
          </p:nvPr>
        </p:nvSpPr>
        <p:spPr/>
        <p:txBody>
          <a:bodyPr/>
          <a:lstStyle>
            <a:lvl1pPr>
              <a:defRPr/>
            </a:lvl1pPr>
          </a:lstStyle>
          <a:p>
            <a:fld id="{E21B998D-49DB-4F0E-B0C8-26E76A054BBA}" type="slidenum">
              <a:rPr lang="en-IN" altLang="en-US"/>
              <a:pPr/>
              <a:t>‹#›</a:t>
            </a:fld>
            <a:endParaRPr lang="en-IN" altLang="en-US"/>
          </a:p>
        </p:txBody>
      </p:sp>
    </p:spTree>
    <p:extLst>
      <p:ext uri="{BB962C8B-B14F-4D97-AF65-F5344CB8AC3E}">
        <p14:creationId xmlns:p14="http://schemas.microsoft.com/office/powerpoint/2010/main" val="15790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Date Placeholder 3">
            <a:extLst>
              <a:ext uri="{FF2B5EF4-FFF2-40B4-BE49-F238E27FC236}">
                <a16:creationId xmlns:a16="http://schemas.microsoft.com/office/drawing/2014/main" id="{05E1F473-FF19-5E5A-002E-F52D56EF798E}"/>
              </a:ext>
            </a:extLst>
          </p:cNvPr>
          <p:cNvSpPr>
            <a:spLocks noGrp="1"/>
          </p:cNvSpPr>
          <p:nvPr>
            <p:ph type="dt" sz="half" idx="10"/>
          </p:nvPr>
        </p:nvSpPr>
        <p:spPr/>
        <p:txBody>
          <a:bodyPr/>
          <a:lstStyle>
            <a:lvl1pPr>
              <a:defRPr/>
            </a:lvl1pPr>
          </a:lstStyle>
          <a:p>
            <a:fld id="{5C166989-ACF7-4ED2-A7CC-9C8581800993}" type="datetimeFigureOut">
              <a:rPr lang="en-IN"/>
              <a:pPr/>
              <a:t>26-04-2026</a:t>
            </a:fld>
            <a:endParaRPr lang="en-IN"/>
          </a:p>
        </p:txBody>
      </p:sp>
      <p:sp>
        <p:nvSpPr>
          <p:cNvPr id="4" name="Footer Placeholder 4">
            <a:extLst>
              <a:ext uri="{FF2B5EF4-FFF2-40B4-BE49-F238E27FC236}">
                <a16:creationId xmlns:a16="http://schemas.microsoft.com/office/drawing/2014/main" id="{D82C8197-4CF8-C4DE-100F-D2E5589061FD}"/>
              </a:ext>
            </a:extLst>
          </p:cNvPr>
          <p:cNvSpPr>
            <a:spLocks noGrp="1"/>
          </p:cNvSpPr>
          <p:nvPr>
            <p:ph type="ftr" sz="quarter" idx="11"/>
          </p:nvPr>
        </p:nvSpPr>
        <p:spPr/>
        <p:txBody>
          <a:bodyPr/>
          <a:lstStyle>
            <a:lvl1pPr>
              <a:defRPr/>
            </a:lvl1pPr>
          </a:lstStyle>
          <a:p>
            <a:endParaRPr lang="en-IN"/>
          </a:p>
        </p:txBody>
      </p:sp>
      <p:sp>
        <p:nvSpPr>
          <p:cNvPr id="5" name="Slide Number Placeholder 5">
            <a:extLst>
              <a:ext uri="{FF2B5EF4-FFF2-40B4-BE49-F238E27FC236}">
                <a16:creationId xmlns:a16="http://schemas.microsoft.com/office/drawing/2014/main" id="{D1247A1A-42B6-59F9-12A1-3CE500A5AB88}"/>
              </a:ext>
            </a:extLst>
          </p:cNvPr>
          <p:cNvSpPr>
            <a:spLocks noGrp="1"/>
          </p:cNvSpPr>
          <p:nvPr>
            <p:ph type="sldNum" sz="quarter" idx="12"/>
          </p:nvPr>
        </p:nvSpPr>
        <p:spPr/>
        <p:txBody>
          <a:bodyPr/>
          <a:lstStyle>
            <a:lvl1pPr>
              <a:defRPr/>
            </a:lvl1pPr>
          </a:lstStyle>
          <a:p>
            <a:fld id="{F27212BC-51E3-46E3-8C28-9B17B281BEA0}" type="slidenum">
              <a:rPr lang="en-IN" altLang="en-US"/>
              <a:pPr/>
              <a:t>‹#›</a:t>
            </a:fld>
            <a:endParaRPr lang="en-IN" altLang="en-US"/>
          </a:p>
        </p:txBody>
      </p:sp>
    </p:spTree>
    <p:extLst>
      <p:ext uri="{BB962C8B-B14F-4D97-AF65-F5344CB8AC3E}">
        <p14:creationId xmlns:p14="http://schemas.microsoft.com/office/powerpoint/2010/main" val="3927911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8F2A0B5-F41C-E4C6-A8FB-67EF4E201DBA}"/>
              </a:ext>
            </a:extLst>
          </p:cNvPr>
          <p:cNvSpPr>
            <a:spLocks noGrp="1"/>
          </p:cNvSpPr>
          <p:nvPr>
            <p:ph type="dt" sz="half" idx="10"/>
          </p:nvPr>
        </p:nvSpPr>
        <p:spPr/>
        <p:txBody>
          <a:bodyPr/>
          <a:lstStyle>
            <a:lvl1pPr>
              <a:defRPr/>
            </a:lvl1pPr>
          </a:lstStyle>
          <a:p>
            <a:fld id="{5C166989-ACF7-4ED2-A7CC-9C8581800993}" type="datetimeFigureOut">
              <a:rPr lang="en-IN"/>
              <a:pPr/>
              <a:t>26-04-2026</a:t>
            </a:fld>
            <a:endParaRPr lang="en-IN"/>
          </a:p>
        </p:txBody>
      </p:sp>
      <p:sp>
        <p:nvSpPr>
          <p:cNvPr id="3" name="Footer Placeholder 4">
            <a:extLst>
              <a:ext uri="{FF2B5EF4-FFF2-40B4-BE49-F238E27FC236}">
                <a16:creationId xmlns:a16="http://schemas.microsoft.com/office/drawing/2014/main" id="{3199D2CC-0585-41BA-7D63-6E857A15DFF1}"/>
              </a:ext>
            </a:extLst>
          </p:cNvPr>
          <p:cNvSpPr>
            <a:spLocks noGrp="1"/>
          </p:cNvSpPr>
          <p:nvPr>
            <p:ph type="ftr" sz="quarter" idx="11"/>
          </p:nvPr>
        </p:nvSpPr>
        <p:spPr/>
        <p:txBody>
          <a:bodyPr/>
          <a:lstStyle>
            <a:lvl1pPr>
              <a:defRPr/>
            </a:lvl1pPr>
          </a:lstStyle>
          <a:p>
            <a:endParaRPr lang="en-IN"/>
          </a:p>
        </p:txBody>
      </p:sp>
      <p:sp>
        <p:nvSpPr>
          <p:cNvPr id="4" name="Slide Number Placeholder 5">
            <a:extLst>
              <a:ext uri="{FF2B5EF4-FFF2-40B4-BE49-F238E27FC236}">
                <a16:creationId xmlns:a16="http://schemas.microsoft.com/office/drawing/2014/main" id="{113BD6A1-3CF4-4D75-F0C1-6A7F29C25FE5}"/>
              </a:ext>
            </a:extLst>
          </p:cNvPr>
          <p:cNvSpPr>
            <a:spLocks noGrp="1"/>
          </p:cNvSpPr>
          <p:nvPr>
            <p:ph type="sldNum" sz="quarter" idx="12"/>
          </p:nvPr>
        </p:nvSpPr>
        <p:spPr/>
        <p:txBody>
          <a:bodyPr/>
          <a:lstStyle>
            <a:lvl1pPr>
              <a:defRPr/>
            </a:lvl1pPr>
          </a:lstStyle>
          <a:p>
            <a:fld id="{28B4D64C-E185-42BD-9992-757232701F5C}" type="slidenum">
              <a:rPr lang="en-IN" altLang="en-US"/>
              <a:pPr/>
              <a:t>‹#›</a:t>
            </a:fld>
            <a:endParaRPr lang="en-IN" altLang="en-US"/>
          </a:p>
        </p:txBody>
      </p:sp>
    </p:spTree>
    <p:extLst>
      <p:ext uri="{BB962C8B-B14F-4D97-AF65-F5344CB8AC3E}">
        <p14:creationId xmlns:p14="http://schemas.microsoft.com/office/powerpoint/2010/main" val="2017723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Click to edit Master text styles</a:t>
            </a:r>
          </a:p>
        </p:txBody>
      </p:sp>
      <p:sp>
        <p:nvSpPr>
          <p:cNvPr id="5" name="Date Placeholder 3">
            <a:extLst>
              <a:ext uri="{FF2B5EF4-FFF2-40B4-BE49-F238E27FC236}">
                <a16:creationId xmlns:a16="http://schemas.microsoft.com/office/drawing/2014/main" id="{12049A41-7188-CF4D-1EC3-F37D0A81887B}"/>
              </a:ext>
            </a:extLst>
          </p:cNvPr>
          <p:cNvSpPr>
            <a:spLocks noGrp="1"/>
          </p:cNvSpPr>
          <p:nvPr>
            <p:ph type="dt" sz="half" idx="10"/>
          </p:nvPr>
        </p:nvSpPr>
        <p:spPr/>
        <p:txBody>
          <a:bodyPr/>
          <a:lstStyle>
            <a:lvl1pPr>
              <a:defRPr/>
            </a:lvl1pPr>
          </a:lstStyle>
          <a:p>
            <a:fld id="{5C166989-ACF7-4ED2-A7CC-9C8581800993}" type="datetimeFigureOut">
              <a:rPr lang="en-IN"/>
              <a:pPr/>
              <a:t>26-04-2026</a:t>
            </a:fld>
            <a:endParaRPr lang="en-IN"/>
          </a:p>
        </p:txBody>
      </p:sp>
      <p:sp>
        <p:nvSpPr>
          <p:cNvPr id="6" name="Footer Placeholder 4">
            <a:extLst>
              <a:ext uri="{FF2B5EF4-FFF2-40B4-BE49-F238E27FC236}">
                <a16:creationId xmlns:a16="http://schemas.microsoft.com/office/drawing/2014/main" id="{EC4EDE69-806D-C229-28B8-6F8471CBB10A}"/>
              </a:ext>
            </a:extLst>
          </p:cNvPr>
          <p:cNvSpPr>
            <a:spLocks noGrp="1"/>
          </p:cNvSpPr>
          <p:nvPr>
            <p:ph type="ftr" sz="quarter" idx="11"/>
          </p:nvPr>
        </p:nvSpPr>
        <p:spPr/>
        <p:txBody>
          <a:bodyPr/>
          <a:lstStyle>
            <a:lvl1pPr>
              <a:defRPr/>
            </a:lvl1pPr>
          </a:lstStyle>
          <a:p>
            <a:endParaRPr lang="en-IN"/>
          </a:p>
        </p:txBody>
      </p:sp>
      <p:sp>
        <p:nvSpPr>
          <p:cNvPr id="7" name="Slide Number Placeholder 5">
            <a:extLst>
              <a:ext uri="{FF2B5EF4-FFF2-40B4-BE49-F238E27FC236}">
                <a16:creationId xmlns:a16="http://schemas.microsoft.com/office/drawing/2014/main" id="{7AD497DD-DF5B-47CB-787D-B5A796DC3E15}"/>
              </a:ext>
            </a:extLst>
          </p:cNvPr>
          <p:cNvSpPr>
            <a:spLocks noGrp="1"/>
          </p:cNvSpPr>
          <p:nvPr>
            <p:ph type="sldNum" sz="quarter" idx="12"/>
          </p:nvPr>
        </p:nvSpPr>
        <p:spPr/>
        <p:txBody>
          <a:bodyPr/>
          <a:lstStyle>
            <a:lvl1pPr>
              <a:defRPr/>
            </a:lvl1pPr>
          </a:lstStyle>
          <a:p>
            <a:fld id="{A8DE5AC5-0649-4D69-89D0-5E8AC691EE8F}" type="slidenum">
              <a:rPr lang="en-IN" altLang="en-US"/>
              <a:pPr/>
              <a:t>‹#›</a:t>
            </a:fld>
            <a:endParaRPr lang="en-IN" altLang="en-US"/>
          </a:p>
        </p:txBody>
      </p:sp>
    </p:spTree>
    <p:extLst>
      <p:ext uri="{BB962C8B-B14F-4D97-AF65-F5344CB8AC3E}">
        <p14:creationId xmlns:p14="http://schemas.microsoft.com/office/powerpoint/2010/main" val="1208988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1"/>
              <a:t>Click icon to add picture</a:t>
            </a:r>
            <a:endParaRPr lang="en-IN"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Click to edit Master text styles</a:t>
            </a:r>
          </a:p>
        </p:txBody>
      </p:sp>
      <p:sp>
        <p:nvSpPr>
          <p:cNvPr id="5" name="Date Placeholder 3">
            <a:extLst>
              <a:ext uri="{FF2B5EF4-FFF2-40B4-BE49-F238E27FC236}">
                <a16:creationId xmlns:a16="http://schemas.microsoft.com/office/drawing/2014/main" id="{303BD65A-7454-C968-0B03-087E8957140F}"/>
              </a:ext>
            </a:extLst>
          </p:cNvPr>
          <p:cNvSpPr>
            <a:spLocks noGrp="1"/>
          </p:cNvSpPr>
          <p:nvPr>
            <p:ph type="dt" sz="half" idx="10"/>
          </p:nvPr>
        </p:nvSpPr>
        <p:spPr/>
        <p:txBody>
          <a:bodyPr/>
          <a:lstStyle>
            <a:lvl1pPr>
              <a:defRPr/>
            </a:lvl1pPr>
          </a:lstStyle>
          <a:p>
            <a:fld id="{5C166989-ACF7-4ED2-A7CC-9C8581800993}" type="datetimeFigureOut">
              <a:rPr lang="en-IN"/>
              <a:pPr/>
              <a:t>26-04-2026</a:t>
            </a:fld>
            <a:endParaRPr lang="en-IN"/>
          </a:p>
        </p:txBody>
      </p:sp>
      <p:sp>
        <p:nvSpPr>
          <p:cNvPr id="6" name="Footer Placeholder 4">
            <a:extLst>
              <a:ext uri="{FF2B5EF4-FFF2-40B4-BE49-F238E27FC236}">
                <a16:creationId xmlns:a16="http://schemas.microsoft.com/office/drawing/2014/main" id="{9C398639-CAEB-D688-7060-EFB2C53CE03A}"/>
              </a:ext>
            </a:extLst>
          </p:cNvPr>
          <p:cNvSpPr>
            <a:spLocks noGrp="1"/>
          </p:cNvSpPr>
          <p:nvPr>
            <p:ph type="ftr" sz="quarter" idx="11"/>
          </p:nvPr>
        </p:nvSpPr>
        <p:spPr/>
        <p:txBody>
          <a:bodyPr/>
          <a:lstStyle>
            <a:lvl1pPr>
              <a:defRPr/>
            </a:lvl1pPr>
          </a:lstStyle>
          <a:p>
            <a:endParaRPr lang="en-IN"/>
          </a:p>
        </p:txBody>
      </p:sp>
      <p:sp>
        <p:nvSpPr>
          <p:cNvPr id="7" name="Slide Number Placeholder 5">
            <a:extLst>
              <a:ext uri="{FF2B5EF4-FFF2-40B4-BE49-F238E27FC236}">
                <a16:creationId xmlns:a16="http://schemas.microsoft.com/office/drawing/2014/main" id="{7C308455-7192-4F10-6E48-4995387A63A6}"/>
              </a:ext>
            </a:extLst>
          </p:cNvPr>
          <p:cNvSpPr>
            <a:spLocks noGrp="1"/>
          </p:cNvSpPr>
          <p:nvPr>
            <p:ph type="sldNum" sz="quarter" idx="12"/>
          </p:nvPr>
        </p:nvSpPr>
        <p:spPr/>
        <p:txBody>
          <a:bodyPr/>
          <a:lstStyle>
            <a:lvl1pPr>
              <a:defRPr/>
            </a:lvl1pPr>
          </a:lstStyle>
          <a:p>
            <a:fld id="{B2E5B753-2BA5-4B49-AAB1-8E6AAE2C05F6}" type="slidenum">
              <a:rPr lang="en-IN" altLang="en-US"/>
              <a:pPr/>
              <a:t>‹#›</a:t>
            </a:fld>
            <a:endParaRPr lang="en-IN" altLang="en-US"/>
          </a:p>
        </p:txBody>
      </p:sp>
    </p:spTree>
    <p:extLst>
      <p:ext uri="{BB962C8B-B14F-4D97-AF65-F5344CB8AC3E}">
        <p14:creationId xmlns:p14="http://schemas.microsoft.com/office/powerpoint/2010/main" val="3859645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Vertical Text Placeholder 2"/>
          <p:cNvSpPr>
            <a:spLocks noGrp="1"/>
          </p:cNvSpPr>
          <p:nvPr>
            <p:ph type="body" orient="vert" idx="1"/>
          </p:nvPr>
        </p:nvSpPr>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48D3DED6-F8B2-8091-A61B-C2EEA0838C13}"/>
              </a:ext>
            </a:extLst>
          </p:cNvPr>
          <p:cNvSpPr>
            <a:spLocks noGrp="1"/>
          </p:cNvSpPr>
          <p:nvPr>
            <p:ph type="dt" sz="half" idx="10"/>
          </p:nvPr>
        </p:nvSpPr>
        <p:spPr/>
        <p:txBody>
          <a:bodyPr/>
          <a:lstStyle>
            <a:lvl1pPr>
              <a:defRPr/>
            </a:lvl1pPr>
          </a:lstStyle>
          <a:p>
            <a:fld id="{5C166989-ACF7-4ED2-A7CC-9C8581800993}" type="datetimeFigureOut">
              <a:rPr lang="en-IN"/>
              <a:pPr/>
              <a:t>26-04-2026</a:t>
            </a:fld>
            <a:endParaRPr lang="en-IN"/>
          </a:p>
        </p:txBody>
      </p:sp>
      <p:sp>
        <p:nvSpPr>
          <p:cNvPr id="5" name="Footer Placeholder 4">
            <a:extLst>
              <a:ext uri="{FF2B5EF4-FFF2-40B4-BE49-F238E27FC236}">
                <a16:creationId xmlns:a16="http://schemas.microsoft.com/office/drawing/2014/main" id="{5BAC31DE-A8F4-FE63-2A54-E8FF22A6B77D}"/>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32F365DD-68C7-69EB-0CDB-A962CE2AAE48}"/>
              </a:ext>
            </a:extLst>
          </p:cNvPr>
          <p:cNvSpPr>
            <a:spLocks noGrp="1"/>
          </p:cNvSpPr>
          <p:nvPr>
            <p:ph type="sldNum" sz="quarter" idx="12"/>
          </p:nvPr>
        </p:nvSpPr>
        <p:spPr/>
        <p:txBody>
          <a:bodyPr/>
          <a:lstStyle>
            <a:lvl1pPr>
              <a:defRPr/>
            </a:lvl1pPr>
          </a:lstStyle>
          <a:p>
            <a:fld id="{B424E4F7-0A82-4A91-BF1D-11E1996376EA}" type="slidenum">
              <a:rPr lang="en-IN" altLang="en-US"/>
              <a:pPr/>
              <a:t>‹#›</a:t>
            </a:fld>
            <a:endParaRPr lang="en-IN" altLang="en-US"/>
          </a:p>
        </p:txBody>
      </p:sp>
    </p:spTree>
    <p:extLst>
      <p:ext uri="{BB962C8B-B14F-4D97-AF65-F5344CB8AC3E}">
        <p14:creationId xmlns:p14="http://schemas.microsoft.com/office/powerpoint/2010/main" val="399999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noProof="1"/>
              <a:t>Click to edit Master title style</a:t>
            </a:r>
            <a:endParaRPr lang="en-IN"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1FE1A463-CF2B-D47C-1189-4ADDFD36ADA4}"/>
              </a:ext>
            </a:extLst>
          </p:cNvPr>
          <p:cNvSpPr>
            <a:spLocks noGrp="1"/>
          </p:cNvSpPr>
          <p:nvPr>
            <p:ph type="dt" sz="half" idx="10"/>
          </p:nvPr>
        </p:nvSpPr>
        <p:spPr/>
        <p:txBody>
          <a:bodyPr/>
          <a:lstStyle>
            <a:lvl1pPr>
              <a:defRPr/>
            </a:lvl1pPr>
          </a:lstStyle>
          <a:p>
            <a:fld id="{5C166989-ACF7-4ED2-A7CC-9C8581800993}" type="datetimeFigureOut">
              <a:rPr lang="en-IN"/>
              <a:pPr/>
              <a:t>26-04-2026</a:t>
            </a:fld>
            <a:endParaRPr lang="en-IN"/>
          </a:p>
        </p:txBody>
      </p:sp>
      <p:sp>
        <p:nvSpPr>
          <p:cNvPr id="5" name="Footer Placeholder 4">
            <a:extLst>
              <a:ext uri="{FF2B5EF4-FFF2-40B4-BE49-F238E27FC236}">
                <a16:creationId xmlns:a16="http://schemas.microsoft.com/office/drawing/2014/main" id="{89F97213-EA00-CD70-06D8-486C03EE7210}"/>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8C6AA5DC-3308-9893-200A-32D86D66EB21}"/>
              </a:ext>
            </a:extLst>
          </p:cNvPr>
          <p:cNvSpPr>
            <a:spLocks noGrp="1"/>
          </p:cNvSpPr>
          <p:nvPr>
            <p:ph type="sldNum" sz="quarter" idx="12"/>
          </p:nvPr>
        </p:nvSpPr>
        <p:spPr/>
        <p:txBody>
          <a:bodyPr/>
          <a:lstStyle>
            <a:lvl1pPr>
              <a:defRPr/>
            </a:lvl1pPr>
          </a:lstStyle>
          <a:p>
            <a:fld id="{BB0ADF3B-A68B-4C1A-8408-8D287071CBF5}" type="slidenum">
              <a:rPr lang="en-IN" altLang="en-US"/>
              <a:pPr/>
              <a:t>‹#›</a:t>
            </a:fld>
            <a:endParaRPr lang="en-IN" altLang="en-US"/>
          </a:p>
        </p:txBody>
      </p:sp>
    </p:spTree>
    <p:extLst>
      <p:ext uri="{BB962C8B-B14F-4D97-AF65-F5344CB8AC3E}">
        <p14:creationId xmlns:p14="http://schemas.microsoft.com/office/powerpoint/2010/main" val="3102718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A6AA130-D149-AA91-C1E6-38833BD170A1}"/>
              </a:ext>
            </a:extLst>
          </p:cNvPr>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endParaRPr lang="en-IN" altLang="en-US"/>
          </a:p>
        </p:txBody>
      </p:sp>
      <p:sp>
        <p:nvSpPr>
          <p:cNvPr id="1027" name="Text Placeholder 2">
            <a:extLst>
              <a:ext uri="{FF2B5EF4-FFF2-40B4-BE49-F238E27FC236}">
                <a16:creationId xmlns:a16="http://schemas.microsoft.com/office/drawing/2014/main" id="{DF289495-7C37-A413-693B-8ED5116353AE}"/>
              </a:ext>
            </a:extLst>
          </p:cNvPr>
          <p:cNvSpPr>
            <a:spLocks noGrp="1" noChangeArrowheads="1"/>
          </p:cNvSpPr>
          <p:nvPr>
            <p:ph type="body" idx="4294967295"/>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IN" altLang="en-US"/>
          </a:p>
        </p:txBody>
      </p:sp>
      <p:sp>
        <p:nvSpPr>
          <p:cNvPr id="4" name="Date Placeholder 3">
            <a:extLst>
              <a:ext uri="{FF2B5EF4-FFF2-40B4-BE49-F238E27FC236}">
                <a16:creationId xmlns:a16="http://schemas.microsoft.com/office/drawing/2014/main" id="{E4D168BB-D9E4-CFEC-D4F9-7596518B18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defRPr sz="1200" noProof="1" smtClean="0">
                <a:solidFill>
                  <a:schemeClr val="tx1">
                    <a:tint val="82000"/>
                  </a:schemeClr>
                </a:solidFill>
                <a:latin typeface="+mn-lt"/>
              </a:defRPr>
            </a:lvl1pPr>
          </a:lstStyle>
          <a:p>
            <a:fld id="{5C166989-ACF7-4ED2-A7CC-9C8581800993}" type="datetimeFigureOut">
              <a:rPr lang="en-IN"/>
              <a:pPr/>
              <a:t>26-04-2026</a:t>
            </a:fld>
            <a:endParaRPr lang="en-IN"/>
          </a:p>
        </p:txBody>
      </p:sp>
      <p:sp>
        <p:nvSpPr>
          <p:cNvPr id="5" name="Footer Placeholder 4">
            <a:extLst>
              <a:ext uri="{FF2B5EF4-FFF2-40B4-BE49-F238E27FC236}">
                <a16:creationId xmlns:a16="http://schemas.microsoft.com/office/drawing/2014/main" id="{5722F116-F5CA-41F1-BBE2-25881DA053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defRPr sz="1200" noProof="1">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A2FDBDC-52A8-E871-8201-9DC3342FA2B1}"/>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767676"/>
                </a:solidFill>
              </a:defRPr>
            </a:lvl1pPr>
          </a:lstStyle>
          <a:p>
            <a:fld id="{6E29C106-7EFE-491E-90EB-8F9DE3C60662}" type="slidenum">
              <a:rPr lang="en-IN" altLang="en-US"/>
              <a:pPr/>
              <a:t>‹#›</a:t>
            </a:fld>
            <a:endParaRPr lang="en-IN"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Aptos Display" panose="020B0004020202020204" pitchFamily="34" charset="0"/>
        </a:defRPr>
      </a:lvl2pPr>
      <a:lvl3pPr algn="l" rtl="0" eaLnBrk="1" fontAlgn="base" hangingPunct="1">
        <a:lnSpc>
          <a:spcPct val="90000"/>
        </a:lnSpc>
        <a:spcBef>
          <a:spcPct val="0"/>
        </a:spcBef>
        <a:spcAft>
          <a:spcPct val="0"/>
        </a:spcAft>
        <a:defRPr sz="4400">
          <a:solidFill>
            <a:schemeClr val="tx1"/>
          </a:solidFill>
          <a:latin typeface="Aptos Display" panose="020B0004020202020204" pitchFamily="34" charset="0"/>
        </a:defRPr>
      </a:lvl3pPr>
      <a:lvl4pPr algn="l" rtl="0" eaLnBrk="1" fontAlgn="base" hangingPunct="1">
        <a:lnSpc>
          <a:spcPct val="90000"/>
        </a:lnSpc>
        <a:spcBef>
          <a:spcPct val="0"/>
        </a:spcBef>
        <a:spcAft>
          <a:spcPct val="0"/>
        </a:spcAft>
        <a:defRPr sz="4400">
          <a:solidFill>
            <a:schemeClr val="tx1"/>
          </a:solidFill>
          <a:latin typeface="Aptos Display" panose="020B0004020202020204" pitchFamily="34" charset="0"/>
        </a:defRPr>
      </a:lvl4pPr>
      <a:lvl5pPr algn="l" rtl="0" eaLnBrk="1" fontAlgn="base" hangingPunct="1">
        <a:lnSpc>
          <a:spcPct val="90000"/>
        </a:lnSpc>
        <a:spcBef>
          <a:spcPct val="0"/>
        </a:spcBef>
        <a:spcAft>
          <a:spcPct val="0"/>
        </a:spcAft>
        <a:defRPr sz="4400">
          <a:solidFill>
            <a:schemeClr val="tx1"/>
          </a:solidFill>
          <a:latin typeface="Aptos Display" panose="020B00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ptos Display" panose="020B00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ptos Display" panose="020B00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ptos Display" panose="020B00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ptos Display" panose="020B000402020202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CE06DB-F182-7015-7E28-7CBAE6EC456D}"/>
              </a:ext>
            </a:extLst>
          </p:cNvPr>
          <p:cNvSpPr txBox="1"/>
          <p:nvPr/>
        </p:nvSpPr>
        <p:spPr>
          <a:xfrm>
            <a:off x="1082038" y="3152418"/>
            <a:ext cx="5259554" cy="2538770"/>
          </a:xfrm>
          <a:prstGeom prst="rect">
            <a:avLst/>
          </a:prstGeom>
        </p:spPr>
        <p:txBody>
          <a:bodyPr rot="0" spcFirstLastPara="0" vertOverflow="overflow" horzOverflow="overflow" vert="horz" lIns="91440" tIns="0" rIns="91440" bIns="0" numCol="1" spcCol="0" rtlCol="0" fromWordArt="0" anchorCtr="0" forceAA="0" compatLnSpc="1">
            <a:prstTxWarp prst="textNoShape">
              <a:avLst/>
            </a:prstTxWarp>
            <a:normAutofit/>
          </a:bodyPr>
          <a:lstStyle/>
          <a:p>
            <a:pPr>
              <a:spcAft>
                <a:spcPts val="600"/>
              </a:spcAft>
              <a:buFont typeface="Arial" panose="020B0604020202020204" pitchFamily="34" charset="0"/>
            </a:pPr>
            <a:r>
              <a:rPr lang="en-US" sz="2000" dirty="0">
                <a:latin typeface="Times New Roman" panose="02020603050405020304" pitchFamily="18" charset="0"/>
                <a:cs typeface="Times New Roman" panose="02020603050405020304" pitchFamily="18" charset="0"/>
              </a:rPr>
              <a:t> </a:t>
            </a:r>
          </a:p>
          <a:p>
            <a:pPr marL="457200" indent="-457200">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Pranjali(124A8013)</a:t>
            </a:r>
          </a:p>
          <a:p>
            <a:pPr marL="457200" indent="-457200">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Mayuri(124A8018)</a:t>
            </a:r>
          </a:p>
          <a:p>
            <a:pPr marL="457200" indent="-457200">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Safa (124A8045)</a:t>
            </a:r>
          </a:p>
          <a:p>
            <a:pPr>
              <a:spcAft>
                <a:spcPts val="600"/>
              </a:spcAft>
              <a:buFont typeface="Arial" panose="020B0604020202020204" pitchFamily="34" charset="0"/>
            </a:pPr>
            <a:r>
              <a:rPr lang="en-US" sz="2400" dirty="0">
                <a:latin typeface="Times New Roman" panose="02020603050405020304" pitchFamily="18" charset="0"/>
                <a:cs typeface="Times New Roman" panose="02020603050405020304" pitchFamily="18" charset="0"/>
              </a:rPr>
              <a:t>     </a:t>
            </a:r>
          </a:p>
          <a:p>
            <a:pPr>
              <a:spcAft>
                <a:spcPts val="600"/>
              </a:spcAft>
              <a:buFont typeface="Arial" panose="020B0604020202020204" pitchFamily="34" charset="0"/>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Guide -</a:t>
            </a:r>
            <a:r>
              <a:rPr lang="en-US" sz="2400" dirty="0">
                <a:latin typeface="Times New Roman" panose="02020603050405020304" pitchFamily="18" charset="0"/>
                <a:cs typeface="Times New Roman" panose="02020603050405020304" pitchFamily="18" charset="0"/>
              </a:rPr>
              <a:t> Dr. Neethu Sabu</a:t>
            </a:r>
          </a:p>
        </p:txBody>
      </p:sp>
      <p:sp>
        <p:nvSpPr>
          <p:cNvPr id="3" name="Google Shape;55;p13">
            <a:extLst>
              <a:ext uri="{FF2B5EF4-FFF2-40B4-BE49-F238E27FC236}">
                <a16:creationId xmlns:a16="http://schemas.microsoft.com/office/drawing/2014/main" id="{28F6ED60-85BC-5AA0-17E3-980CF24E2568}"/>
              </a:ext>
            </a:extLst>
          </p:cNvPr>
          <p:cNvSpPr txBox="1">
            <a:spLocks/>
          </p:cNvSpPr>
          <p:nvPr/>
        </p:nvSpPr>
        <p:spPr>
          <a:xfrm>
            <a:off x="1879600" y="840191"/>
            <a:ext cx="8654869" cy="184573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lang="en-US" sz="5200" b="1" i="0" u="none" strike="noStrike" cap="none" baseline="0">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r>
              <a:rPr lang="en-US" sz="5400" dirty="0">
                <a:latin typeface="Times New Roman" panose="02020603050405020304" pitchFamily="18" charset="0"/>
                <a:cs typeface="Times New Roman" panose="02020603050405020304" pitchFamily="18" charset="0"/>
              </a:rPr>
              <a:t>Signal Sync - Smart Traffic Management System</a:t>
            </a:r>
          </a:p>
        </p:txBody>
      </p:sp>
      <p:pic>
        <p:nvPicPr>
          <p:cNvPr id="6" name="Picture 1">
            <a:extLst>
              <a:ext uri="{FF2B5EF4-FFF2-40B4-BE49-F238E27FC236}">
                <a16:creationId xmlns:a16="http://schemas.microsoft.com/office/drawing/2014/main" id="{EBABA7DA-F9DA-262E-0D34-EB1B9DCB650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5691188"/>
            <a:ext cx="228917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3">
            <a:extLst>
              <a:ext uri="{FF2B5EF4-FFF2-40B4-BE49-F238E27FC236}">
                <a16:creationId xmlns:a16="http://schemas.microsoft.com/office/drawing/2014/main" id="{911F103E-A83A-7298-FFC1-1DC1193D7D99}"/>
              </a:ext>
            </a:extLst>
          </p:cNvPr>
          <p:cNvSpPr>
            <a:spLocks noGrp="1"/>
          </p:cNvSpPr>
          <p:nvPr>
            <p:ph type="ftr" sz="quarter" idx="11"/>
          </p:nvPr>
        </p:nvSpPr>
        <p:spPr>
          <a:xfrm>
            <a:off x="4038600" y="6356350"/>
            <a:ext cx="4114800" cy="365125"/>
          </a:xfrm>
        </p:spPr>
        <p:txBody>
          <a:bodyPr/>
          <a:lstStyle/>
          <a:p>
            <a:r>
              <a:rPr lang="en-US" dirty="0"/>
              <a:t>Department of Artificial (AI) Intelligence and Data Science</a:t>
            </a:r>
            <a:endParaRPr lang="en-IN" dirty="0"/>
          </a:p>
        </p:txBody>
      </p:sp>
    </p:spTree>
    <p:extLst>
      <p:ext uri="{BB962C8B-B14F-4D97-AF65-F5344CB8AC3E}">
        <p14:creationId xmlns:p14="http://schemas.microsoft.com/office/powerpoint/2010/main" val="3557071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FED9F-DFAE-3EED-5307-6353F50CC0B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Presentation Outline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3F8979-87AB-A3E4-20A1-E4E0E323818A}"/>
              </a:ext>
            </a:extLst>
          </p:cNvPr>
          <p:cNvSpPr>
            <a:spLocks noGrp="1"/>
          </p:cNvSpPr>
          <p:nvPr>
            <p:ph idx="1"/>
          </p:nvPr>
        </p:nvSpPr>
        <p:spPr/>
        <p:txBody>
          <a:bodyPr/>
          <a:lstStyle/>
          <a:p>
            <a:r>
              <a:rPr lang="en-US" dirty="0">
                <a:latin typeface="Times New Roman" pitchFamily="18" charset="0"/>
                <a:cs typeface="Times New Roman" pitchFamily="18" charset="0"/>
              </a:rPr>
              <a:t> Introduction</a:t>
            </a:r>
          </a:p>
          <a:p>
            <a:r>
              <a:rPr lang="en-US" dirty="0">
                <a:latin typeface="Times New Roman" pitchFamily="18" charset="0"/>
                <a:cs typeface="Times New Roman" pitchFamily="18" charset="0"/>
              </a:rPr>
              <a:t> Literature Survey</a:t>
            </a:r>
          </a:p>
          <a:p>
            <a:r>
              <a:rPr lang="en-US" dirty="0">
                <a:latin typeface="Times New Roman" pitchFamily="18" charset="0"/>
                <a:cs typeface="Times New Roman" pitchFamily="18" charset="0"/>
              </a:rPr>
              <a:t> Proposed System</a:t>
            </a:r>
          </a:p>
          <a:p>
            <a:r>
              <a:rPr lang="en-US" dirty="0">
                <a:latin typeface="Times New Roman" pitchFamily="18" charset="0"/>
                <a:cs typeface="Times New Roman" pitchFamily="18" charset="0"/>
              </a:rPr>
              <a:t> Methodology</a:t>
            </a:r>
          </a:p>
          <a:p>
            <a:r>
              <a:rPr lang="en-US" dirty="0">
                <a:latin typeface="Times New Roman" pitchFamily="18" charset="0"/>
                <a:cs typeface="Times New Roman" pitchFamily="18" charset="0"/>
              </a:rPr>
              <a:t> Results</a:t>
            </a:r>
          </a:p>
          <a:p>
            <a:r>
              <a:rPr lang="en-US" dirty="0">
                <a:latin typeface="Times New Roman" pitchFamily="18" charset="0"/>
                <a:cs typeface="Times New Roman" pitchFamily="18" charset="0"/>
              </a:rPr>
              <a:t> Conclusion</a:t>
            </a:r>
          </a:p>
          <a:p>
            <a:r>
              <a:rPr lang="en-US" dirty="0">
                <a:latin typeface="Times New Roman" pitchFamily="18" charset="0"/>
                <a:cs typeface="Times New Roman" pitchFamily="18" charset="0"/>
              </a:rPr>
              <a:t> References</a:t>
            </a:r>
          </a:p>
        </p:txBody>
      </p:sp>
      <p:sp>
        <p:nvSpPr>
          <p:cNvPr id="4" name="Footer Placeholder 3">
            <a:extLst>
              <a:ext uri="{FF2B5EF4-FFF2-40B4-BE49-F238E27FC236}">
                <a16:creationId xmlns:a16="http://schemas.microsoft.com/office/drawing/2014/main" id="{7576279B-6974-B6DE-CE98-3AA9B127EB9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Department of Artificial (AI) Intelligence and Data Science</a:t>
            </a:r>
            <a:endParaRPr lang="en-IN">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20F92D9-819A-3981-11AA-5FADE7F6F945}"/>
              </a:ext>
            </a:extLst>
          </p:cNvPr>
          <p:cNvSpPr>
            <a:spLocks noGrp="1"/>
          </p:cNvSpPr>
          <p:nvPr>
            <p:ph type="sldNum" sz="quarter" idx="12"/>
          </p:nvPr>
        </p:nvSpPr>
        <p:spPr/>
        <p:txBody>
          <a:bodyPr/>
          <a:lstStyle/>
          <a:p>
            <a:fld id="{86E1DD69-9EE1-4D18-8ED6-AE00C761DA4E}" type="slidenum">
              <a:rPr lang="en-IN" smtClean="0">
                <a:latin typeface="Times New Roman" panose="02020603050405020304" pitchFamily="18" charset="0"/>
                <a:cs typeface="Times New Roman" panose="02020603050405020304" pitchFamily="18" charset="0"/>
              </a:rPr>
              <a:t>2</a:t>
            </a:fld>
            <a:endParaRPr lang="en-IN">
              <a:latin typeface="Times New Roman" panose="02020603050405020304" pitchFamily="18" charset="0"/>
              <a:cs typeface="Times New Roman" panose="02020603050405020304" pitchFamily="18" charset="0"/>
            </a:endParaRPr>
          </a:p>
        </p:txBody>
      </p:sp>
      <p:pic>
        <p:nvPicPr>
          <p:cNvPr id="6" name="Picture 1">
            <a:extLst>
              <a:ext uri="{FF2B5EF4-FFF2-40B4-BE49-F238E27FC236}">
                <a16:creationId xmlns:a16="http://schemas.microsoft.com/office/drawing/2014/main" id="{648DB48F-D32B-4104-D199-EEC4071BEAA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5691188"/>
            <a:ext cx="228917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9419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
            <a:extLst>
              <a:ext uri="{FF2B5EF4-FFF2-40B4-BE49-F238E27FC236}">
                <a16:creationId xmlns:a16="http://schemas.microsoft.com/office/drawing/2014/main" id="{0BA0E4D2-BD40-93E3-E56B-D431C731737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67" y="6207760"/>
            <a:ext cx="925513"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80349634-C3FF-782D-2BDC-03EAEF262E14}"/>
              </a:ext>
            </a:extLst>
          </p:cNvPr>
          <p:cNvSpPr>
            <a:spLocks noGrp="1"/>
          </p:cNvSpPr>
          <p:nvPr>
            <p:ph type="title"/>
          </p:nvPr>
        </p:nvSpPr>
        <p:spPr>
          <a:xfrm>
            <a:off x="838199" y="314325"/>
            <a:ext cx="10515600" cy="1325563"/>
          </a:xfrm>
        </p:spPr>
        <p:txBody>
          <a:bodyPr/>
          <a:lstStyle/>
          <a:p>
            <a:pPr algn="ctr"/>
            <a:r>
              <a:rPr lang="en-US" b="1"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B645E97-202A-2F5D-FBBF-99D1B78599B6}"/>
              </a:ext>
            </a:extLst>
          </p:cNvPr>
          <p:cNvSpPr>
            <a:spLocks noGrp="1"/>
          </p:cNvSpPr>
          <p:nvPr>
            <p:ph idx="1"/>
          </p:nvPr>
        </p:nvSpPr>
        <p:spPr>
          <a:xfrm>
            <a:off x="838199" y="1605598"/>
            <a:ext cx="10515600" cy="4351338"/>
          </a:xfrm>
        </p:spPr>
        <p:txBody>
          <a:bodyPr/>
          <a:lstStyle/>
          <a:p>
            <a:pPr marL="0" indent="0">
              <a:buNone/>
            </a:pPr>
            <a:r>
              <a:rPr lang="en-US" b="1" dirty="0">
                <a:latin typeface="Times New Roman" panose="02020603050405020304" pitchFamily="18" charset="0"/>
                <a:cs typeface="Times New Roman" panose="02020603050405020304" pitchFamily="18" charset="0"/>
              </a:rPr>
              <a:t>Background</a:t>
            </a:r>
          </a:p>
          <a:p>
            <a:pPr marL="0" indent="0">
              <a:buNone/>
            </a:pPr>
            <a:r>
              <a:rPr lang="en-US" sz="2000" dirty="0">
                <a:latin typeface="Times New Roman" panose="02020603050405020304" pitchFamily="18" charset="0"/>
                <a:cs typeface="Times New Roman" panose="02020603050405020304" pitchFamily="18" charset="0"/>
              </a:rPr>
              <a:t>Traffic congestion is becoming a big problem in cities because the number of vehicles on the road is increasing every day.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Most traditional traffic signals work on </a:t>
            </a:r>
            <a:r>
              <a:rPr lang="en-US" sz="2000" b="1" dirty="0">
                <a:latin typeface="Times New Roman" panose="02020603050405020304" pitchFamily="18" charset="0"/>
                <a:cs typeface="Times New Roman" panose="02020603050405020304" pitchFamily="18" charset="0"/>
              </a:rPr>
              <a:t>fixed time intervals</a:t>
            </a:r>
            <a:r>
              <a:rPr lang="en-US" sz="2000" dirty="0">
                <a:latin typeface="Times New Roman" panose="02020603050405020304" pitchFamily="18" charset="0"/>
                <a:cs typeface="Times New Roman" panose="02020603050405020304" pitchFamily="18" charset="0"/>
              </a:rPr>
              <a:t>, which means they do not change according to current traffic conditions.</a:t>
            </a:r>
          </a:p>
          <a:p>
            <a:pPr marL="0" indent="0">
              <a:buNone/>
            </a:pPr>
            <a:r>
              <a:rPr lang="en-US" sz="2000" dirty="0">
                <a:latin typeface="Times New Roman" panose="02020603050405020304" pitchFamily="18" charset="0"/>
                <a:cs typeface="Times New Roman" panose="02020603050405020304" pitchFamily="18" charset="0"/>
              </a:rPr>
              <a:t>Because of this:</a:t>
            </a:r>
          </a:p>
          <a:p>
            <a:r>
              <a:rPr lang="en-US" sz="2000" dirty="0">
                <a:latin typeface="Times New Roman" panose="02020603050405020304" pitchFamily="18" charset="0"/>
                <a:cs typeface="Times New Roman" panose="02020603050405020304" pitchFamily="18" charset="0"/>
              </a:rPr>
              <a:t>Vehicles have to </a:t>
            </a:r>
            <a:r>
              <a:rPr lang="en-US" sz="2000" b="1" dirty="0">
                <a:latin typeface="Times New Roman" panose="02020603050405020304" pitchFamily="18" charset="0"/>
                <a:cs typeface="Times New Roman" panose="02020603050405020304" pitchFamily="18" charset="0"/>
              </a:rPr>
              <a:t>wait longer at signals</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Traffic flow becomes </a:t>
            </a:r>
            <a:r>
              <a:rPr lang="en-US" sz="2000" b="1" dirty="0">
                <a:latin typeface="Times New Roman" panose="02020603050405020304" pitchFamily="18" charset="0"/>
                <a:cs typeface="Times New Roman" panose="02020603050405020304" pitchFamily="18" charset="0"/>
              </a:rPr>
              <a:t>slow and inefficient</a:t>
            </a:r>
            <a:r>
              <a:rPr lang="en-US" sz="2000"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Fuel consumption and pollution increase</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With the development of </a:t>
            </a:r>
            <a:r>
              <a:rPr lang="en-US" sz="2000" b="1" dirty="0">
                <a:latin typeface="Times New Roman" panose="02020603050405020304" pitchFamily="18" charset="0"/>
                <a:cs typeface="Times New Roman" panose="02020603050405020304" pitchFamily="18" charset="0"/>
              </a:rPr>
              <a:t>intelligent transportation technologies</a:t>
            </a:r>
            <a:r>
              <a:rPr lang="en-US" sz="2000" dirty="0">
                <a:latin typeface="Times New Roman" panose="02020603050405020304" pitchFamily="18" charset="0"/>
                <a:cs typeface="Times New Roman" panose="02020603050405020304" pitchFamily="18" charset="0"/>
              </a:rPr>
              <a:t>, there is a need for smarter systems that can </a:t>
            </a:r>
            <a:r>
              <a:rPr lang="en-US" sz="2000" b="1" dirty="0">
                <a:latin typeface="Times New Roman" panose="02020603050405020304" pitchFamily="18" charset="0"/>
                <a:cs typeface="Times New Roman" panose="02020603050405020304" pitchFamily="18" charset="0"/>
              </a:rPr>
              <a:t>analyze traffic conditions and control signals dynamically</a:t>
            </a:r>
            <a:r>
              <a:rPr lang="en-US" sz="2000" dirty="0">
                <a:latin typeface="Times New Roman" panose="02020603050405020304" pitchFamily="18" charset="0"/>
                <a:cs typeface="Times New Roman" panose="02020603050405020304" pitchFamily="18" charset="0"/>
              </a:rPr>
              <a:t>.</a:t>
            </a:r>
          </a:p>
          <a:p>
            <a:pPr marL="0" indent="0">
              <a:buNone/>
            </a:pPr>
            <a:endParaRPr lang="en-US" sz="1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4BABEDD-4B1E-B6BD-3938-4D9219BFD1D2}"/>
              </a:ext>
            </a:extLst>
          </p:cNvPr>
          <p:cNvSpPr>
            <a:spLocks noGrp="1"/>
          </p:cNvSpPr>
          <p:nvPr>
            <p:ph type="ftr" sz="quarter" idx="11"/>
          </p:nvPr>
        </p:nvSpPr>
        <p:spPr>
          <a:xfrm>
            <a:off x="4038599" y="6492875"/>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4135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09AF96-CF6E-F3C6-FFFA-0985D24323EC}"/>
              </a:ext>
            </a:extLst>
          </p:cNvPr>
          <p:cNvSpPr>
            <a:spLocks noGrp="1"/>
          </p:cNvSpPr>
          <p:nvPr>
            <p:ph idx="1"/>
          </p:nvPr>
        </p:nvSpPr>
        <p:spPr>
          <a:xfrm>
            <a:off x="838199" y="1639888"/>
            <a:ext cx="10515600" cy="4351338"/>
          </a:xfrm>
        </p:spPr>
        <p:txBody>
          <a:bodyPr/>
          <a:lstStyle/>
          <a:p>
            <a:pPr marL="0" indent="0">
              <a:buNone/>
            </a:pPr>
            <a:r>
              <a:rPr lang="en-US" b="1" dirty="0">
                <a:latin typeface="Times New Roman" panose="02020603050405020304" pitchFamily="18" charset="0"/>
                <a:cs typeface="Times New Roman" panose="02020603050405020304" pitchFamily="18" charset="0"/>
              </a:rPr>
              <a:t>Purpose of the Project</a:t>
            </a:r>
          </a:p>
          <a:p>
            <a:pPr marL="0" indent="0">
              <a:buNone/>
            </a:pPr>
            <a:r>
              <a:rPr lang="en-US" sz="2000" dirty="0">
                <a:latin typeface="Times New Roman" panose="02020603050405020304" pitchFamily="18" charset="0"/>
                <a:cs typeface="Times New Roman" panose="02020603050405020304" pitchFamily="18" charset="0"/>
              </a:rPr>
              <a:t>The purpose of this project is to </a:t>
            </a:r>
            <a:r>
              <a:rPr lang="en-US" sz="2000" b="1" dirty="0">
                <a:latin typeface="Times New Roman" panose="02020603050405020304" pitchFamily="18" charset="0"/>
                <a:cs typeface="Times New Roman" panose="02020603050405020304" pitchFamily="18" charset="0"/>
              </a:rPr>
              <a:t>develop a smart traffic control simulation system</a:t>
            </a:r>
            <a:r>
              <a:rPr lang="en-US" sz="2000" dirty="0">
                <a:latin typeface="Times New Roman" panose="02020603050405020304" pitchFamily="18" charset="0"/>
                <a:cs typeface="Times New Roman" panose="02020603050405020304" pitchFamily="18" charset="0"/>
              </a:rPr>
              <a:t> for a </a:t>
            </a:r>
            <a:r>
              <a:rPr lang="en-US" sz="2000" b="1" dirty="0">
                <a:latin typeface="Times New Roman" panose="02020603050405020304" pitchFamily="18" charset="0"/>
                <a:cs typeface="Times New Roman" panose="02020603050405020304" pitchFamily="18" charset="0"/>
              </a:rPr>
              <a:t>four-way intersection</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The system compares </a:t>
            </a:r>
            <a:r>
              <a:rPr lang="en-US" sz="2000" b="1" dirty="0">
                <a:latin typeface="Times New Roman" panose="02020603050405020304" pitchFamily="18" charset="0"/>
                <a:cs typeface="Times New Roman" panose="02020603050405020304" pitchFamily="18" charset="0"/>
              </a:rPr>
              <a:t>two traffic control approaches</a:t>
            </a:r>
            <a:r>
              <a:rPr lang="en-US" sz="2000" dirty="0">
                <a:latin typeface="Times New Roman" panose="02020603050405020304" pitchFamily="18" charset="0"/>
                <a:cs typeface="Times New Roman" panose="02020603050405020304" pitchFamily="18" charset="0"/>
              </a:rPr>
              <a:t>:</a:t>
            </a:r>
          </a:p>
          <a:p>
            <a:pPr>
              <a:buFont typeface="+mj-lt"/>
              <a:buAutoNum type="arabicPeriod"/>
            </a:pPr>
            <a:r>
              <a:rPr lang="en-US" sz="2000" b="1" dirty="0">
                <a:latin typeface="Times New Roman" panose="02020603050405020304" pitchFamily="18" charset="0"/>
                <a:cs typeface="Times New Roman" panose="02020603050405020304" pitchFamily="18" charset="0"/>
              </a:rPr>
              <a:t>Mathematical Predictive Model</a:t>
            </a:r>
            <a:r>
              <a:rPr lang="en-US" sz="2000" dirty="0">
                <a:latin typeface="Times New Roman" panose="02020603050405020304" pitchFamily="18" charset="0"/>
                <a:cs typeface="Times New Roman" panose="02020603050405020304" pitchFamily="18" charset="0"/>
              </a:rPr>
              <a:t> </a:t>
            </a:r>
          </a:p>
          <a:p>
            <a:pPr>
              <a:buFont typeface="+mj-lt"/>
              <a:buAutoNum type="arabicPeriod"/>
            </a:pPr>
            <a:r>
              <a:rPr lang="en-US" sz="2000" b="1" dirty="0">
                <a:latin typeface="Times New Roman" panose="02020603050405020304" pitchFamily="18" charset="0"/>
                <a:cs typeface="Times New Roman" panose="02020603050405020304" pitchFamily="18" charset="0"/>
              </a:rPr>
              <a:t>Deep Reinforcement Learning (DRL) Model</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The system analyzes traffic using parameters such as:</a:t>
            </a:r>
          </a:p>
          <a:p>
            <a:r>
              <a:rPr lang="en-US" sz="2000" dirty="0">
                <a:latin typeface="Times New Roman" panose="02020603050405020304" pitchFamily="18" charset="0"/>
                <a:cs typeface="Times New Roman" panose="02020603050405020304" pitchFamily="18" charset="0"/>
              </a:rPr>
              <a:t>Queue length (number of waiting vehicles) </a:t>
            </a:r>
          </a:p>
          <a:p>
            <a:r>
              <a:rPr lang="en-US" sz="2000" dirty="0">
                <a:latin typeface="Times New Roman" panose="02020603050405020304" pitchFamily="18" charset="0"/>
                <a:cs typeface="Times New Roman" panose="02020603050405020304" pitchFamily="18" charset="0"/>
              </a:rPr>
              <a:t>Waiting time </a:t>
            </a:r>
          </a:p>
          <a:p>
            <a:r>
              <a:rPr lang="en-US" sz="2000" dirty="0">
                <a:latin typeface="Times New Roman" panose="02020603050405020304" pitchFamily="18" charset="0"/>
                <a:cs typeface="Times New Roman" panose="02020603050405020304" pitchFamily="18" charset="0"/>
              </a:rPr>
              <a:t>Throughput (vehicles passing the intersection) </a:t>
            </a:r>
          </a:p>
          <a:p>
            <a:pPr marL="0" indent="0">
              <a:buNone/>
            </a:pPr>
            <a:r>
              <a:rPr lang="en-US" sz="2000" dirty="0">
                <a:latin typeface="Times New Roman" panose="02020603050405020304" pitchFamily="18" charset="0"/>
                <a:cs typeface="Times New Roman" panose="02020603050405020304" pitchFamily="18" charset="0"/>
              </a:rPr>
              <a:t>By comparing these results, the project identifies </a:t>
            </a:r>
            <a:r>
              <a:rPr lang="en-US" sz="2000" b="1" dirty="0">
                <a:latin typeface="Times New Roman" panose="02020603050405020304" pitchFamily="18" charset="0"/>
                <a:cs typeface="Times New Roman" panose="02020603050405020304" pitchFamily="18" charset="0"/>
              </a:rPr>
              <a:t>which method manages traffic more efficiently</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8E13D6-C392-5136-7E36-918D6503C6F5}"/>
              </a:ext>
            </a:extLst>
          </p:cNvPr>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AC8C813B-B0BA-E932-119C-434CA654362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356350"/>
            <a:ext cx="176784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15BA24D9-9678-C60B-4E82-A57EDFA42A82}"/>
              </a:ext>
            </a:extLst>
          </p:cNvPr>
          <p:cNvSpPr>
            <a:spLocks noGrp="1"/>
          </p:cNvSpPr>
          <p:nvPr>
            <p:ph type="title"/>
          </p:nvPr>
        </p:nvSpPr>
        <p:spPr>
          <a:xfrm>
            <a:off x="838199" y="314325"/>
            <a:ext cx="10515600" cy="1325563"/>
          </a:xfrm>
        </p:spPr>
        <p:txBody>
          <a:bodyPr/>
          <a:lstStyle/>
          <a:p>
            <a:pPr algn="ctr"/>
            <a:r>
              <a:rPr lang="en-US" b="1"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9778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5BE38-843C-FA80-6343-7C3F369B20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085387-253F-DC0E-9976-D1DFD54B8EB8}"/>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Relevance of the Project</a:t>
            </a:r>
            <a:endParaRPr lang="en-US"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This project is important for </a:t>
            </a:r>
            <a:r>
              <a:rPr lang="en-US" sz="2000" b="1" dirty="0">
                <a:latin typeface="Times New Roman" panose="02020603050405020304" pitchFamily="18" charset="0"/>
                <a:cs typeface="Times New Roman" panose="02020603050405020304" pitchFamily="18" charset="0"/>
              </a:rPr>
              <a:t>smart cities and intelligent transportation systems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An efficient traffic control system can:</a:t>
            </a:r>
          </a:p>
          <a:p>
            <a:r>
              <a:rPr lang="en-US" sz="2000" dirty="0">
                <a:latin typeface="Times New Roman" panose="02020603050405020304" pitchFamily="18" charset="0"/>
                <a:cs typeface="Times New Roman" panose="02020603050405020304" pitchFamily="18" charset="0"/>
              </a:rPr>
              <a:t>Reduce traffic congestion </a:t>
            </a:r>
          </a:p>
          <a:p>
            <a:r>
              <a:rPr lang="en-US" sz="2000" dirty="0">
                <a:latin typeface="Times New Roman" panose="02020603050405020304" pitchFamily="18" charset="0"/>
                <a:cs typeface="Times New Roman" panose="02020603050405020304" pitchFamily="18" charset="0"/>
              </a:rPr>
              <a:t>Decrease travel time </a:t>
            </a:r>
          </a:p>
          <a:p>
            <a:r>
              <a:rPr lang="en-US" sz="2000" dirty="0">
                <a:latin typeface="Times New Roman" panose="02020603050405020304" pitchFamily="18" charset="0"/>
                <a:cs typeface="Times New Roman" panose="02020603050405020304" pitchFamily="18" charset="0"/>
              </a:rPr>
              <a:t>Reduce fuel consumption </a:t>
            </a:r>
          </a:p>
          <a:p>
            <a:r>
              <a:rPr lang="en-US" sz="2000" dirty="0">
                <a:latin typeface="Times New Roman" panose="02020603050405020304" pitchFamily="18" charset="0"/>
                <a:cs typeface="Times New Roman" panose="02020603050405020304" pitchFamily="18" charset="0"/>
              </a:rPr>
              <a:t>Improve road safety </a:t>
            </a:r>
          </a:p>
          <a:p>
            <a:pPr marL="0" indent="0">
              <a:buNone/>
            </a:pPr>
            <a:r>
              <a:rPr lang="en-US" sz="2000" dirty="0">
                <a:latin typeface="Times New Roman" panose="02020603050405020304" pitchFamily="18" charset="0"/>
                <a:cs typeface="Times New Roman" panose="02020603050405020304" pitchFamily="18" charset="0"/>
              </a:rPr>
              <a:t>The simulation created in this project also provides a </a:t>
            </a:r>
            <a:r>
              <a:rPr lang="en-US" sz="2000" b="1" dirty="0">
                <a:latin typeface="Times New Roman" panose="02020603050405020304" pitchFamily="18" charset="0"/>
                <a:cs typeface="Times New Roman" panose="02020603050405020304" pitchFamily="18" charset="0"/>
              </a:rPr>
              <a:t>safe environment to study traffic behavior and test different traffic control strategies before using them in real-world traffic systems</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7FDFEFE-4B06-E003-7E16-05686B743975}"/>
              </a:ext>
            </a:extLst>
          </p:cNvPr>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71438EC0-B024-20A1-3277-C5670C20232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5691188"/>
            <a:ext cx="228917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383E6EEC-CA56-7E7B-4EF7-B44C0A7ABC57}"/>
              </a:ext>
            </a:extLst>
          </p:cNvPr>
          <p:cNvSpPr>
            <a:spLocks noGrp="1"/>
          </p:cNvSpPr>
          <p:nvPr>
            <p:ph type="title"/>
          </p:nvPr>
        </p:nvSpPr>
        <p:spPr>
          <a:xfrm>
            <a:off x="838199" y="314325"/>
            <a:ext cx="10515600" cy="1325563"/>
          </a:xfrm>
        </p:spPr>
        <p:txBody>
          <a:bodyPr/>
          <a:lstStyle/>
          <a:p>
            <a:pPr algn="ctr"/>
            <a:r>
              <a:rPr lang="en-US" b="1"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6113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C3117-91F1-0675-63CB-B1881B0041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91D75-FE3D-9871-4382-E0BE76D1D17B}"/>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Problem Statement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95C6CC9-D2C3-5010-0F3E-64CAA3209B4D}"/>
              </a:ext>
            </a:extLst>
          </p:cNvPr>
          <p:cNvSpPr>
            <a:spLocks noGrp="1"/>
          </p:cNvSpPr>
          <p:nvPr>
            <p:ph idx="1"/>
          </p:nvPr>
        </p:nvSpPr>
        <p:spPr>
          <a:xfrm>
            <a:off x="838200" y="1508526"/>
            <a:ext cx="10515600" cy="4351338"/>
          </a:xfrm>
        </p:spPr>
        <p:txBody>
          <a:bodyPr/>
          <a:lstStyle/>
          <a:p>
            <a:pPr marL="0" indent="0">
              <a:buNone/>
            </a:pPr>
            <a:r>
              <a:rPr lang="en-US" sz="1600" dirty="0">
                <a:latin typeface="Times New Roman" panose="02020603050405020304" pitchFamily="18" charset="0"/>
                <a:cs typeface="Times New Roman" panose="02020603050405020304" pitchFamily="18" charset="0"/>
              </a:rPr>
              <a:t>Traditional traffic signal systems </a:t>
            </a:r>
            <a:r>
              <a:rPr lang="en-US" sz="1600" b="1" dirty="0">
                <a:latin typeface="Times New Roman" panose="02020603050405020304" pitchFamily="18" charset="0"/>
                <a:cs typeface="Times New Roman" panose="02020603050405020304" pitchFamily="18" charset="0"/>
              </a:rPr>
              <a:t>cannot adjust signals based on real-time traffic</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Due to this:</a:t>
            </a:r>
          </a:p>
          <a:p>
            <a:r>
              <a:rPr lang="en-US" sz="1600" dirty="0">
                <a:latin typeface="Times New Roman" panose="02020603050405020304" pitchFamily="18" charset="0"/>
                <a:cs typeface="Times New Roman" panose="02020603050405020304" pitchFamily="18" charset="0"/>
              </a:rPr>
              <a:t>Traffic congestion increases </a:t>
            </a:r>
          </a:p>
          <a:p>
            <a:r>
              <a:rPr lang="en-US" sz="1600" dirty="0">
                <a:latin typeface="Times New Roman" panose="02020603050405020304" pitchFamily="18" charset="0"/>
                <a:cs typeface="Times New Roman" panose="02020603050405020304" pitchFamily="18" charset="0"/>
              </a:rPr>
              <a:t>Vehicle queues become longer </a:t>
            </a:r>
          </a:p>
          <a:p>
            <a:r>
              <a:rPr lang="en-US" sz="1600" dirty="0">
                <a:latin typeface="Times New Roman" panose="02020603050405020304" pitchFamily="18" charset="0"/>
                <a:cs typeface="Times New Roman" panose="02020603050405020304" pitchFamily="18" charset="0"/>
              </a:rPr>
              <a:t>Travel time increases </a:t>
            </a:r>
          </a:p>
          <a:p>
            <a:pPr marL="0" indent="0">
              <a:buNone/>
            </a:pPr>
            <a:r>
              <a:rPr lang="en-US" sz="1600" dirty="0">
                <a:latin typeface="Times New Roman" panose="02020603050405020304" pitchFamily="18" charset="0"/>
                <a:cs typeface="Times New Roman" panose="02020603050405020304" pitchFamily="18" charset="0"/>
              </a:rPr>
              <a:t>So, there is a need for a </a:t>
            </a:r>
            <a:r>
              <a:rPr lang="en-US" sz="1600" b="1" dirty="0">
                <a:latin typeface="Times New Roman" panose="02020603050405020304" pitchFamily="18" charset="0"/>
                <a:cs typeface="Times New Roman" panose="02020603050405020304" pitchFamily="18" charset="0"/>
              </a:rPr>
              <a:t>smart traffic system that can automatically adjust signal timing based on traffic conditions</a:t>
            </a:r>
            <a:r>
              <a:rPr lang="en-US" sz="1600" dirty="0">
                <a:latin typeface="Times New Roman" panose="02020603050405020304" pitchFamily="18" charset="0"/>
                <a:cs typeface="Times New Roman" panose="02020603050405020304" pitchFamily="18" charset="0"/>
              </a:rPr>
              <a:t>.</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Need / Importance of the Project</a:t>
            </a:r>
          </a:p>
          <a:p>
            <a:pPr marL="0" indent="0">
              <a:buNone/>
            </a:pPr>
            <a:r>
              <a:rPr lang="en-US" sz="1600" dirty="0">
                <a:latin typeface="Times New Roman" panose="02020603050405020304" pitchFamily="18" charset="0"/>
                <a:cs typeface="Times New Roman" panose="02020603050405020304" pitchFamily="18" charset="0"/>
              </a:rPr>
              <a:t>An intelligent traffic control system can:</a:t>
            </a:r>
          </a:p>
          <a:p>
            <a:r>
              <a:rPr lang="en-US" sz="1600" dirty="0">
                <a:latin typeface="Times New Roman" panose="02020603050405020304" pitchFamily="18" charset="0"/>
                <a:cs typeface="Times New Roman" panose="02020603050405020304" pitchFamily="18" charset="0"/>
              </a:rPr>
              <a:t>Reduce traffic congestion </a:t>
            </a:r>
          </a:p>
          <a:p>
            <a:r>
              <a:rPr lang="en-US" sz="1600" dirty="0">
                <a:latin typeface="Times New Roman" panose="02020603050405020304" pitchFamily="18" charset="0"/>
                <a:cs typeface="Times New Roman" panose="02020603050405020304" pitchFamily="18" charset="0"/>
              </a:rPr>
              <a:t>Decrease vehicle waiting time </a:t>
            </a:r>
          </a:p>
          <a:p>
            <a:r>
              <a:rPr lang="en-US" sz="1600" dirty="0">
                <a:latin typeface="Times New Roman" panose="02020603050405020304" pitchFamily="18" charset="0"/>
                <a:cs typeface="Times New Roman" panose="02020603050405020304" pitchFamily="18" charset="0"/>
              </a:rPr>
              <a:t>Improve traffic flow </a:t>
            </a:r>
          </a:p>
          <a:p>
            <a:r>
              <a:rPr lang="en-US" sz="1600" dirty="0">
                <a:latin typeface="Times New Roman" panose="02020603050405020304" pitchFamily="18" charset="0"/>
                <a:cs typeface="Times New Roman" panose="02020603050405020304" pitchFamily="18" charset="0"/>
              </a:rPr>
              <a:t>Reduce fuel consumption and pollution </a:t>
            </a:r>
          </a:p>
          <a:p>
            <a:pPr marL="0" indent="0">
              <a:buNone/>
            </a:pPr>
            <a:r>
              <a:rPr lang="en-US" sz="1600" dirty="0">
                <a:latin typeface="Times New Roman" panose="02020603050405020304" pitchFamily="18" charset="0"/>
                <a:cs typeface="Times New Roman" panose="02020603050405020304" pitchFamily="18" charset="0"/>
              </a:rPr>
              <a:t>This is important for </a:t>
            </a:r>
            <a:r>
              <a:rPr lang="en-US" sz="1600" b="1" dirty="0">
                <a:latin typeface="Times New Roman" panose="02020603050405020304" pitchFamily="18" charset="0"/>
                <a:cs typeface="Times New Roman" panose="02020603050405020304" pitchFamily="18" charset="0"/>
              </a:rPr>
              <a:t>smart cities and intelligent transportation systems</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A320C01-E2FC-67C9-9531-2A67BC51E349}"/>
              </a:ext>
            </a:extLst>
          </p:cNvPr>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6E8A60A1-E267-0286-2F4D-0A65E6E4593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6176962"/>
            <a:ext cx="74358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7986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B5101-9819-2F86-D98A-3030394DD7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D38D0-A0B7-62AB-213B-799DDB21E795}"/>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Objectives of the Project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FDEAAD8-A977-1AA1-C82B-6DCAD88446B4}"/>
              </a:ext>
            </a:extLst>
          </p:cNvPr>
          <p:cNvSpPr>
            <a:spLocks noGrp="1"/>
          </p:cNvSpPr>
          <p:nvPr>
            <p:ph idx="1"/>
          </p:nvPr>
        </p:nvSpPr>
        <p:spPr>
          <a:xfrm>
            <a:off x="838200" y="1787525"/>
            <a:ext cx="10515600" cy="4351338"/>
          </a:xfrm>
        </p:spPr>
        <p:txBody>
          <a:bodyPr/>
          <a:lstStyle/>
          <a:p>
            <a:pPr marL="0" indent="0">
              <a:buNone/>
            </a:pPr>
            <a:r>
              <a:rPr lang="en-US" sz="2000" dirty="0">
                <a:latin typeface="Times New Roman" panose="02020603050405020304" pitchFamily="18" charset="0"/>
                <a:cs typeface="Times New Roman" panose="02020603050405020304" pitchFamily="18" charset="0"/>
              </a:rPr>
              <a:t>The main objectives of this project are:</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To create a </a:t>
            </a:r>
            <a:r>
              <a:rPr lang="en-US" sz="2000" b="1" dirty="0">
                <a:latin typeface="Times New Roman" panose="02020603050405020304" pitchFamily="18" charset="0"/>
                <a:cs typeface="Times New Roman" panose="02020603050405020304" pitchFamily="18" charset="0"/>
              </a:rPr>
              <a:t>traffic simulation for a four-way intersection</a:t>
            </a:r>
            <a:r>
              <a:rPr lang="en-US" sz="2000" dirty="0">
                <a:latin typeface="Times New Roman" panose="02020603050405020304" pitchFamily="18" charset="0"/>
                <a:cs typeface="Times New Roman" panose="02020603050405020304" pitchFamily="18" charset="0"/>
              </a:rPr>
              <a:t>. </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To implement a </a:t>
            </a:r>
            <a:r>
              <a:rPr lang="en-US" sz="2000" b="1" dirty="0">
                <a:latin typeface="Times New Roman" panose="02020603050405020304" pitchFamily="18" charset="0"/>
                <a:cs typeface="Times New Roman" panose="02020603050405020304" pitchFamily="18" charset="0"/>
              </a:rPr>
              <a:t>mathematical traffic control model</a:t>
            </a:r>
            <a:r>
              <a:rPr lang="en-US" sz="2000" dirty="0">
                <a:latin typeface="Times New Roman" panose="02020603050405020304" pitchFamily="18" charset="0"/>
                <a:cs typeface="Times New Roman" panose="02020603050405020304" pitchFamily="18" charset="0"/>
              </a:rPr>
              <a:t>. </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To implement a </a:t>
            </a:r>
            <a:r>
              <a:rPr lang="en-US" sz="2000" b="1" dirty="0">
                <a:latin typeface="Times New Roman" panose="02020603050405020304" pitchFamily="18" charset="0"/>
                <a:cs typeface="Times New Roman" panose="02020603050405020304" pitchFamily="18" charset="0"/>
              </a:rPr>
              <a:t>Deep Reinforcement Learning (DRL) traffic control agent</a:t>
            </a:r>
            <a:r>
              <a:rPr lang="en-US" sz="2000" dirty="0">
                <a:latin typeface="Times New Roman" panose="02020603050405020304" pitchFamily="18" charset="0"/>
                <a:cs typeface="Times New Roman" panose="02020603050405020304" pitchFamily="18" charset="0"/>
              </a:rPr>
              <a:t>. </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To analyze traffic parameters such as: </a:t>
            </a:r>
          </a:p>
          <a:p>
            <a:pPr lvl="1"/>
            <a:r>
              <a:rPr lang="en-US" sz="2000" dirty="0">
                <a:latin typeface="Times New Roman" panose="02020603050405020304" pitchFamily="18" charset="0"/>
                <a:cs typeface="Times New Roman" panose="02020603050405020304" pitchFamily="18" charset="0"/>
              </a:rPr>
              <a:t>Queue length </a:t>
            </a:r>
          </a:p>
          <a:p>
            <a:pPr lvl="1"/>
            <a:r>
              <a:rPr lang="en-US" sz="2000" dirty="0">
                <a:latin typeface="Times New Roman" panose="02020603050405020304" pitchFamily="18" charset="0"/>
                <a:cs typeface="Times New Roman" panose="02020603050405020304" pitchFamily="18" charset="0"/>
              </a:rPr>
              <a:t>Waiting time </a:t>
            </a:r>
          </a:p>
          <a:p>
            <a:pPr lvl="1"/>
            <a:r>
              <a:rPr lang="en-US" sz="2000" dirty="0">
                <a:latin typeface="Times New Roman" panose="02020603050405020304" pitchFamily="18" charset="0"/>
                <a:cs typeface="Times New Roman" panose="02020603050405020304" pitchFamily="18" charset="0"/>
              </a:rPr>
              <a:t>Traffic density </a:t>
            </a:r>
          </a:p>
          <a:p>
            <a:pPr lvl="1"/>
            <a:r>
              <a:rPr lang="en-US" sz="2000" dirty="0">
                <a:latin typeface="Times New Roman" panose="02020603050405020304" pitchFamily="18" charset="0"/>
                <a:cs typeface="Times New Roman" panose="02020603050405020304" pitchFamily="18" charset="0"/>
              </a:rPr>
              <a:t>Throughput </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To </a:t>
            </a:r>
            <a:r>
              <a:rPr lang="en-US" sz="2000" b="1" dirty="0">
                <a:latin typeface="Times New Roman" panose="02020603050405020304" pitchFamily="18" charset="0"/>
                <a:cs typeface="Times New Roman" panose="02020603050405020304" pitchFamily="18" charset="0"/>
              </a:rPr>
              <a:t>compare the performance</a:t>
            </a:r>
            <a:r>
              <a:rPr lang="en-US" sz="2000" dirty="0">
                <a:latin typeface="Times New Roman" panose="02020603050405020304" pitchFamily="18" charset="0"/>
                <a:cs typeface="Times New Roman" panose="02020603050405020304" pitchFamily="18" charset="0"/>
              </a:rPr>
              <a:t> of the mathematical model and the DRL model.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B7E3F4C-DCC5-FDF6-185B-2B5C4A249C4E}"/>
              </a:ext>
            </a:extLst>
          </p:cNvPr>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3FCD8D63-630C-BEF1-38F7-25FD22A814B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96025"/>
            <a:ext cx="11398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1416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A078-9084-8DDF-A6AE-6F6243CF9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52CD7-E884-5FA7-7E65-D8C16C416B4C}"/>
              </a:ext>
            </a:extLst>
          </p:cNvPr>
          <p:cNvSpPr>
            <a:spLocks noGrp="1"/>
          </p:cNvSpPr>
          <p:nvPr>
            <p:ph type="title"/>
          </p:nvPr>
        </p:nvSpPr>
        <p:spPr>
          <a:xfrm>
            <a:off x="838199" y="0"/>
            <a:ext cx="10515600" cy="1325563"/>
          </a:xfrm>
        </p:spPr>
        <p:txBody>
          <a:bodyPr/>
          <a:lstStyle/>
          <a:p>
            <a:pPr algn="ctr"/>
            <a:r>
              <a:rPr lang="en-US" b="1" dirty="0">
                <a:latin typeface="Times New Roman" pitchFamily="18" charset="0"/>
                <a:cs typeface="Times New Roman" pitchFamily="18" charset="0"/>
              </a:rPr>
              <a:t> Literature Survey</a:t>
            </a:r>
            <a:endParaRPr lang="en-US" b="1" dirty="0"/>
          </a:p>
        </p:txBody>
      </p:sp>
      <p:graphicFrame>
        <p:nvGraphicFramePr>
          <p:cNvPr id="8" name="Content Placeholder 7">
            <a:extLst>
              <a:ext uri="{FF2B5EF4-FFF2-40B4-BE49-F238E27FC236}">
                <a16:creationId xmlns:a16="http://schemas.microsoft.com/office/drawing/2014/main" id="{7CA74BE7-C2F8-9C84-5FA5-527004F28952}"/>
              </a:ext>
            </a:extLst>
          </p:cNvPr>
          <p:cNvGraphicFramePr>
            <a:graphicFrameLocks noGrp="1"/>
          </p:cNvGraphicFramePr>
          <p:nvPr>
            <p:ph idx="1"/>
            <p:extLst>
              <p:ext uri="{D42A27DB-BD31-4B8C-83A1-F6EECF244321}">
                <p14:modId xmlns:p14="http://schemas.microsoft.com/office/powerpoint/2010/main" val="2168835226"/>
              </p:ext>
            </p:extLst>
          </p:nvPr>
        </p:nvGraphicFramePr>
        <p:xfrm>
          <a:off x="0" y="1384712"/>
          <a:ext cx="12191999" cy="5467316"/>
        </p:xfrm>
        <a:graphic>
          <a:graphicData uri="http://schemas.openxmlformats.org/drawingml/2006/table">
            <a:tbl>
              <a:tblPr firstRow="1" firstCol="1" bandRow="1">
                <a:tableStyleId>{5C22544A-7EE6-4342-B048-85BDC9FD1C3A}</a:tableStyleId>
              </a:tblPr>
              <a:tblGrid>
                <a:gridCol w="2092960">
                  <a:extLst>
                    <a:ext uri="{9D8B030D-6E8A-4147-A177-3AD203B41FA5}">
                      <a16:colId xmlns:a16="http://schemas.microsoft.com/office/drawing/2014/main" val="1551965522"/>
                    </a:ext>
                  </a:extLst>
                </a:gridCol>
                <a:gridCol w="995680">
                  <a:extLst>
                    <a:ext uri="{9D8B030D-6E8A-4147-A177-3AD203B41FA5}">
                      <a16:colId xmlns:a16="http://schemas.microsoft.com/office/drawing/2014/main" val="1222586156"/>
                    </a:ext>
                  </a:extLst>
                </a:gridCol>
                <a:gridCol w="4236720">
                  <a:extLst>
                    <a:ext uri="{9D8B030D-6E8A-4147-A177-3AD203B41FA5}">
                      <a16:colId xmlns:a16="http://schemas.microsoft.com/office/drawing/2014/main" val="1633207379"/>
                    </a:ext>
                  </a:extLst>
                </a:gridCol>
                <a:gridCol w="2590800">
                  <a:extLst>
                    <a:ext uri="{9D8B030D-6E8A-4147-A177-3AD203B41FA5}">
                      <a16:colId xmlns:a16="http://schemas.microsoft.com/office/drawing/2014/main" val="2887794976"/>
                    </a:ext>
                  </a:extLst>
                </a:gridCol>
                <a:gridCol w="2275839">
                  <a:extLst>
                    <a:ext uri="{9D8B030D-6E8A-4147-A177-3AD203B41FA5}">
                      <a16:colId xmlns:a16="http://schemas.microsoft.com/office/drawing/2014/main" val="3045992482"/>
                    </a:ext>
                  </a:extLst>
                </a:gridCol>
              </a:tblGrid>
              <a:tr h="339243">
                <a:tc>
                  <a:txBody>
                    <a:bodyPr/>
                    <a:lstStyle/>
                    <a:p>
                      <a:pPr marL="0" marR="0" algn="ctr">
                        <a:buNone/>
                      </a:pPr>
                      <a:r>
                        <a:rPr lang="en-US" sz="1400" dirty="0">
                          <a:effectLst/>
                        </a:rPr>
                        <a:t>Paper</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ctr">
                        <a:buNone/>
                      </a:pPr>
                      <a:r>
                        <a:rPr lang="en-US" sz="1400">
                          <a:effectLst/>
                        </a:rPr>
                        <a:t>Year</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ctr">
                        <a:buNone/>
                      </a:pPr>
                      <a:r>
                        <a:rPr lang="en-US" sz="1400">
                          <a:effectLst/>
                        </a:rPr>
                        <a:t>Key Findings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ctr">
                        <a:buNone/>
                      </a:pPr>
                      <a:r>
                        <a:rPr lang="en-US" sz="1400">
                          <a:effectLst/>
                        </a:rPr>
                        <a:t>Limitations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ctr">
                        <a:buNone/>
                      </a:pPr>
                      <a:r>
                        <a:rPr lang="en-US" sz="1400">
                          <a:effectLst/>
                        </a:rPr>
                        <a:t>Relevance to My Project</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extLst>
                  <a:ext uri="{0D108BD9-81ED-4DB2-BD59-A6C34878D82A}">
                    <a16:rowId xmlns:a16="http://schemas.microsoft.com/office/drawing/2014/main" val="3304330840"/>
                  </a:ext>
                </a:extLst>
              </a:tr>
              <a:tr h="1323307">
                <a:tc>
                  <a:txBody>
                    <a:bodyPr/>
                    <a:lstStyle/>
                    <a:p>
                      <a:pPr marL="0" marR="0" algn="ctr">
                        <a:lnSpc>
                          <a:spcPct val="115000"/>
                        </a:lnSpc>
                        <a:buNone/>
                      </a:pPr>
                      <a:r>
                        <a:rPr lang="en-US" sz="1400" dirty="0">
                          <a:effectLst/>
                        </a:rPr>
                        <a:t>Python Documentation – Python Software Foundation [10]</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ctr">
                        <a:lnSpc>
                          <a:spcPct val="115000"/>
                        </a:lnSpc>
                        <a:buNone/>
                      </a:pPr>
                      <a:r>
                        <a:rPr lang="en-US" sz="1400" dirty="0">
                          <a:effectLst/>
                        </a:rPr>
                        <a:t>2025</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dirty="0">
                          <a:effectLst/>
                        </a:rPr>
                        <a:t>• Provides official documentation for Python programming </a:t>
                      </a:r>
                    </a:p>
                    <a:p>
                      <a:pPr marL="0" marR="0" algn="l">
                        <a:lnSpc>
                          <a:spcPct val="115000"/>
                        </a:lnSpc>
                        <a:buNone/>
                      </a:pPr>
                      <a:r>
                        <a:rPr lang="en-US" sz="1400" dirty="0">
                          <a:effectLst/>
                        </a:rPr>
                        <a:t>• Supports development of simulation systems </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a:effectLst/>
                        </a:rPr>
                        <a:t>• Not a research study </a:t>
                      </a:r>
                    </a:p>
                    <a:p>
                      <a:pPr marL="0" marR="0" algn="l">
                        <a:lnSpc>
                          <a:spcPct val="115000"/>
                        </a:lnSpc>
                        <a:buNone/>
                      </a:pPr>
                      <a:r>
                        <a:rPr lang="en-US" sz="1400">
                          <a:effectLst/>
                        </a:rPr>
                        <a:t>• Mainly technical documentation</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a:effectLst/>
                        </a:rPr>
                        <a:t>• Used for implementing the traffic simulation system</a:t>
                      </a:r>
                    </a:p>
                    <a:p>
                      <a:pPr marL="0" marR="0" algn="l">
                        <a:lnSpc>
                          <a:spcPct val="115000"/>
                        </a:lnSpc>
                        <a:buNone/>
                      </a:pPr>
                      <a:r>
                        <a:rPr lang="en-US" sz="1400">
                          <a:effectLst/>
                        </a:rPr>
                        <a:t>• Supports Python‑based development</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extLst>
                  <a:ext uri="{0D108BD9-81ED-4DB2-BD59-A6C34878D82A}">
                    <a16:rowId xmlns:a16="http://schemas.microsoft.com/office/drawing/2014/main" val="3287138355"/>
                  </a:ext>
                </a:extLst>
              </a:tr>
              <a:tr h="1128498">
                <a:tc>
                  <a:txBody>
                    <a:bodyPr/>
                    <a:lstStyle/>
                    <a:p>
                      <a:pPr marL="0" marR="0" algn="ctr">
                        <a:lnSpc>
                          <a:spcPct val="115000"/>
                        </a:lnSpc>
                        <a:buNone/>
                      </a:pPr>
                      <a:r>
                        <a:rPr lang="en-US" sz="1400">
                          <a:effectLst/>
                        </a:rPr>
                        <a:t>Simulation of Traffic Flow Using Python and Pygame – Pandey &amp; Kumar [7]</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ctr">
                        <a:lnSpc>
                          <a:spcPct val="115000"/>
                        </a:lnSpc>
                        <a:buNone/>
                      </a:pPr>
                      <a:r>
                        <a:rPr lang="en-US" sz="1400" dirty="0">
                          <a:effectLst/>
                        </a:rPr>
                        <a:t>2024</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dirty="0">
                          <a:effectLst/>
                        </a:rPr>
                        <a:t>• Real‑time traffic visualization </a:t>
                      </a:r>
                    </a:p>
                    <a:p>
                      <a:pPr marL="0" marR="0" algn="l">
                        <a:lnSpc>
                          <a:spcPct val="115000"/>
                        </a:lnSpc>
                        <a:buNone/>
                      </a:pPr>
                      <a:r>
                        <a:rPr lang="en-US" sz="1400" dirty="0">
                          <a:effectLst/>
                        </a:rPr>
                        <a:t>• Models vehicle movement and signals </a:t>
                      </a:r>
                    </a:p>
                    <a:p>
                      <a:pPr marL="0" marR="0" algn="l">
                        <a:lnSpc>
                          <a:spcPct val="115000"/>
                        </a:lnSpc>
                        <a:buNone/>
                      </a:pPr>
                      <a:r>
                        <a:rPr lang="en-US" sz="1400" dirty="0">
                          <a:effectLst/>
                        </a:rPr>
                        <a:t>• Useful for testing traffic scenarios</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dirty="0">
                          <a:effectLst/>
                        </a:rPr>
                        <a:t>• Not based on real‑world data </a:t>
                      </a:r>
                    </a:p>
                    <a:p>
                      <a:pPr marL="0" marR="0" algn="l">
                        <a:lnSpc>
                          <a:spcPct val="115000"/>
                        </a:lnSpc>
                        <a:buNone/>
                      </a:pPr>
                      <a:r>
                        <a:rPr lang="en-US" sz="1400" dirty="0">
                          <a:effectLst/>
                        </a:rPr>
                        <a:t>• Limited realism</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a:effectLst/>
                        </a:rPr>
                        <a:t>• Directly matches our project implementation </a:t>
                      </a:r>
                    </a:p>
                    <a:p>
                      <a:pPr marL="0" marR="0" algn="l">
                        <a:lnSpc>
                          <a:spcPct val="115000"/>
                        </a:lnSpc>
                        <a:buNone/>
                      </a:pPr>
                      <a:r>
                        <a:rPr lang="en-US" sz="1400">
                          <a:effectLst/>
                        </a:rPr>
                        <a:t>• Supports scenario testing (Low / Balanced / Peak)</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extLst>
                  <a:ext uri="{0D108BD9-81ED-4DB2-BD59-A6C34878D82A}">
                    <a16:rowId xmlns:a16="http://schemas.microsoft.com/office/drawing/2014/main" val="3576082565"/>
                  </a:ext>
                </a:extLst>
              </a:tr>
              <a:tr h="853440">
                <a:tc>
                  <a:txBody>
                    <a:bodyPr/>
                    <a:lstStyle/>
                    <a:p>
                      <a:pPr marL="0" marR="0" algn="ctr">
                        <a:lnSpc>
                          <a:spcPct val="115000"/>
                        </a:lnSpc>
                        <a:buNone/>
                      </a:pPr>
                      <a:r>
                        <a:rPr lang="en-US" sz="1400">
                          <a:effectLst/>
                        </a:rPr>
                        <a:t>Urban Mobility Report – Schrank et al. [8]</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ctr">
                        <a:lnSpc>
                          <a:spcPct val="115000"/>
                        </a:lnSpc>
                        <a:buNone/>
                      </a:pPr>
                      <a:r>
                        <a:rPr lang="en-US" sz="1400">
                          <a:effectLst/>
                        </a:rPr>
                        <a:t>2022</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a:effectLst/>
                        </a:rPr>
                        <a:t>• Highlights global traffic congestion issues </a:t>
                      </a:r>
                    </a:p>
                    <a:p>
                      <a:pPr marL="0" marR="0" algn="l">
                        <a:lnSpc>
                          <a:spcPct val="115000"/>
                        </a:lnSpc>
                        <a:buNone/>
                      </a:pPr>
                      <a:r>
                        <a:rPr lang="en-US" sz="1400">
                          <a:effectLst/>
                        </a:rPr>
                        <a:t>• Shows economic and environmental impact of congestion</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dirty="0">
                          <a:effectLst/>
                        </a:rPr>
                        <a:t>• Does not provide specific technical solution</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a:effectLst/>
                        </a:rPr>
                        <a:t>•Justifies need for improved traffic management systems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extLst>
                  <a:ext uri="{0D108BD9-81ED-4DB2-BD59-A6C34878D82A}">
                    <a16:rowId xmlns:a16="http://schemas.microsoft.com/office/drawing/2014/main" val="4167612681"/>
                  </a:ext>
                </a:extLst>
              </a:tr>
              <a:tr h="855151">
                <a:tc>
                  <a:txBody>
                    <a:bodyPr/>
                    <a:lstStyle/>
                    <a:p>
                      <a:pPr marL="0" marR="0" algn="ctr">
                        <a:lnSpc>
                          <a:spcPct val="115000"/>
                        </a:lnSpc>
                        <a:buNone/>
                      </a:pPr>
                      <a:r>
                        <a:rPr lang="en-US" sz="1400">
                          <a:effectLst/>
                        </a:rPr>
                        <a:t>Reinforcement Learning: An Introduction – Sutton &amp; Barto [3]</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ctr">
                        <a:lnSpc>
                          <a:spcPct val="115000"/>
                        </a:lnSpc>
                        <a:buNone/>
                      </a:pPr>
                      <a:r>
                        <a:rPr lang="en-US" sz="1400">
                          <a:effectLst/>
                        </a:rPr>
                        <a:t>2024</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dirty="0">
                          <a:effectLst/>
                        </a:rPr>
                        <a:t>• Provides theoretical framework for reinforcement learning </a:t>
                      </a:r>
                    </a:p>
                    <a:p>
                      <a:pPr marL="0" marR="0" algn="l">
                        <a:lnSpc>
                          <a:spcPct val="115000"/>
                        </a:lnSpc>
                        <a:buNone/>
                      </a:pPr>
                      <a:r>
                        <a:rPr lang="en-US" sz="1400" dirty="0">
                          <a:effectLst/>
                        </a:rPr>
                        <a:t>• Explains learning‑based decision making algorithms</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dirty="0">
                          <a:effectLst/>
                        </a:rPr>
                        <a:t>• Mostly theoretical concepts</a:t>
                      </a:r>
                    </a:p>
                    <a:p>
                      <a:pPr marL="0" marR="0" algn="l">
                        <a:lnSpc>
                          <a:spcPct val="115000"/>
                        </a:lnSpc>
                        <a:buNone/>
                      </a:pPr>
                      <a:r>
                        <a:rPr lang="en-US" sz="1400" dirty="0">
                          <a:effectLst/>
                        </a:rPr>
                        <a:t>• Requires practical   implementation</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dirty="0">
                          <a:effectLst/>
                        </a:rPr>
                        <a:t>• Conceptual foundation for DRL‑based traffic signal optimization</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extLst>
                  <a:ext uri="{0D108BD9-81ED-4DB2-BD59-A6C34878D82A}">
                    <a16:rowId xmlns:a16="http://schemas.microsoft.com/office/drawing/2014/main" val="1779729702"/>
                  </a:ext>
                </a:extLst>
              </a:tr>
              <a:tr h="777126">
                <a:tc>
                  <a:txBody>
                    <a:bodyPr/>
                    <a:lstStyle/>
                    <a:p>
                      <a:pPr marL="0" marR="0" algn="ctr">
                        <a:lnSpc>
                          <a:spcPct val="115000"/>
                        </a:lnSpc>
                        <a:buNone/>
                      </a:pPr>
                      <a:r>
                        <a:rPr lang="en-US" sz="1400">
                          <a:effectLst/>
                        </a:rPr>
                        <a:t>Smart Traffic Light Control System Using Machine Learning – Lopes &amp; Souza [6]</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ctr">
                        <a:lnSpc>
                          <a:spcPct val="115000"/>
                        </a:lnSpc>
                        <a:buNone/>
                      </a:pPr>
                      <a:r>
                        <a:rPr lang="en-US" sz="1400">
                          <a:effectLst/>
                        </a:rPr>
                        <a:t>2018</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a:effectLst/>
                        </a:rPr>
                        <a:t>• Uses ML to predict traffic flow </a:t>
                      </a:r>
                    </a:p>
                    <a:p>
                      <a:pPr marL="0" marR="0" algn="l">
                        <a:lnSpc>
                          <a:spcPct val="115000"/>
                        </a:lnSpc>
                        <a:buNone/>
                      </a:pPr>
                      <a:r>
                        <a:rPr lang="en-US" sz="1400">
                          <a:effectLst/>
                        </a:rPr>
                        <a:t>• Dynamically adjusts signal timing</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a:effectLst/>
                        </a:rPr>
                        <a:t>• Requires sensors and traffic monitoring infrastructure </a:t>
                      </a:r>
                    </a:p>
                    <a:p>
                      <a:pPr marL="0" marR="0" algn="l">
                        <a:lnSpc>
                          <a:spcPct val="115000"/>
                        </a:lnSpc>
                        <a:buNone/>
                      </a:pPr>
                      <a:r>
                        <a:rPr lang="en-US" sz="1400">
                          <a:effectLst/>
                        </a:rPr>
                        <a:t>• High implementation cost</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tc>
                  <a:txBody>
                    <a:bodyPr/>
                    <a:lstStyle/>
                    <a:p>
                      <a:pPr marL="0" marR="0" algn="l">
                        <a:lnSpc>
                          <a:spcPct val="115000"/>
                        </a:lnSpc>
                        <a:buNone/>
                      </a:pPr>
                      <a:r>
                        <a:rPr lang="en-US" sz="1400" dirty="0">
                          <a:effectLst/>
                        </a:rPr>
                        <a:t>• Shows possibility of intelligent traffic signal control</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114" marR="10114" marT="0" marB="0" anchor="ctr"/>
                </a:tc>
                <a:extLst>
                  <a:ext uri="{0D108BD9-81ED-4DB2-BD59-A6C34878D82A}">
                    <a16:rowId xmlns:a16="http://schemas.microsoft.com/office/drawing/2014/main" val="810305427"/>
                  </a:ext>
                </a:extLst>
              </a:tr>
            </a:tbl>
          </a:graphicData>
        </a:graphic>
      </p:graphicFrame>
    </p:spTree>
    <p:extLst>
      <p:ext uri="{BB962C8B-B14F-4D97-AF65-F5344CB8AC3E}">
        <p14:creationId xmlns:p14="http://schemas.microsoft.com/office/powerpoint/2010/main" val="1945270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BAA4F-5AC5-ACE2-685D-F8CC16894189}"/>
            </a:ext>
          </a:extLst>
        </p:cNvPr>
        <p:cNvGrpSpPr/>
        <p:nvPr/>
      </p:nvGrpSpPr>
      <p:grpSpPr>
        <a:xfrm>
          <a:off x="0" y="0"/>
          <a:ext cx="0" cy="0"/>
          <a:chOff x="0" y="0"/>
          <a:chExt cx="0" cy="0"/>
        </a:xfrm>
      </p:grpSpPr>
      <p:pic>
        <p:nvPicPr>
          <p:cNvPr id="9" name="Picture 1">
            <a:extLst>
              <a:ext uri="{FF2B5EF4-FFF2-40B4-BE49-F238E27FC236}">
                <a16:creationId xmlns:a16="http://schemas.microsoft.com/office/drawing/2014/main" id="{24761DCD-4A5C-7FE0-83E3-0304BFB1055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182678"/>
            <a:ext cx="827314" cy="625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69700FDF-2C62-DC12-5D6F-C95CDD55E8E4}"/>
              </a:ext>
            </a:extLst>
          </p:cNvPr>
          <p:cNvSpPr>
            <a:spLocks noGrp="1"/>
          </p:cNvSpPr>
          <p:nvPr>
            <p:ph type="title"/>
          </p:nvPr>
        </p:nvSpPr>
        <p:spPr>
          <a:xfrm>
            <a:off x="746759" y="-264160"/>
            <a:ext cx="10515600" cy="1325563"/>
          </a:xfrm>
        </p:spPr>
        <p:txBody>
          <a:bodyPr/>
          <a:lstStyle/>
          <a:p>
            <a:pPr algn="ctr"/>
            <a:r>
              <a:rPr lang="en-US" b="1" dirty="0">
                <a:latin typeface="Times New Roman" pitchFamily="18" charset="0"/>
                <a:cs typeface="Times New Roman" pitchFamily="18" charset="0"/>
              </a:rPr>
              <a:t> Literature Survey</a:t>
            </a:r>
            <a:endParaRPr lang="en-US" b="1" dirty="0"/>
          </a:p>
        </p:txBody>
      </p:sp>
      <p:sp>
        <p:nvSpPr>
          <p:cNvPr id="4" name="Content Placeholder 3">
            <a:extLst>
              <a:ext uri="{FF2B5EF4-FFF2-40B4-BE49-F238E27FC236}">
                <a16:creationId xmlns:a16="http://schemas.microsoft.com/office/drawing/2014/main" id="{82810B80-0D64-6BAA-D523-E73926FDD960}"/>
              </a:ext>
            </a:extLst>
          </p:cNvPr>
          <p:cNvSpPr>
            <a:spLocks noGrp="1"/>
          </p:cNvSpPr>
          <p:nvPr>
            <p:ph idx="1"/>
          </p:nvPr>
        </p:nvSpPr>
        <p:spPr>
          <a:xfrm>
            <a:off x="665480" y="675322"/>
            <a:ext cx="10515600" cy="4351338"/>
          </a:xfrm>
        </p:spPr>
        <p:txBody>
          <a:bodyPr/>
          <a:lstStyle/>
          <a:p>
            <a:pPr>
              <a:buFont typeface="Wingdings" panose="05000000000000000000" pitchFamily="2" charset="2"/>
              <a:buChar char="v"/>
            </a:pPr>
            <a:r>
              <a:rPr lang="en-US" sz="1800" b="1" dirty="0"/>
              <a:t>Research Gap</a:t>
            </a:r>
          </a:p>
          <a:p>
            <a:pPr marL="0" indent="0">
              <a:buNone/>
            </a:pPr>
            <a:r>
              <a:rPr lang="en-US" sz="1600" b="1" dirty="0"/>
              <a:t>Limitations of Previous Work</a:t>
            </a:r>
          </a:p>
          <a:p>
            <a:r>
              <a:rPr lang="en-US" sz="1500" dirty="0"/>
              <a:t>Many previous studies focus on </a:t>
            </a:r>
            <a:r>
              <a:rPr lang="en-US" sz="1500" b="1" dirty="0"/>
              <a:t>only one traffic control method</a:t>
            </a:r>
            <a:r>
              <a:rPr lang="en-US" sz="1500" dirty="0"/>
              <a:t>, such as </a:t>
            </a:r>
            <a:r>
              <a:rPr lang="en-US" sz="1500" b="1" dirty="0"/>
              <a:t>Reinforcement Learning or multi-agent systems</a:t>
            </a:r>
            <a:r>
              <a:rPr lang="en-US" sz="1500" dirty="0"/>
              <a:t>. </a:t>
            </a:r>
          </a:p>
          <a:p>
            <a:r>
              <a:rPr lang="en-US" sz="1500" dirty="0"/>
              <a:t>Some traffic control approaches require </a:t>
            </a:r>
            <a:r>
              <a:rPr lang="en-US" sz="1500" b="1" dirty="0"/>
              <a:t>complex infrastructure, high computational power, or large training data</a:t>
            </a:r>
            <a:r>
              <a:rPr lang="en-US" sz="1500" dirty="0"/>
              <a:t>. </a:t>
            </a:r>
          </a:p>
          <a:p>
            <a:r>
              <a:rPr lang="en-US" sz="1500" dirty="0"/>
              <a:t>These systems are often </a:t>
            </a:r>
            <a:r>
              <a:rPr lang="en-US" sz="1500" b="1" dirty="0"/>
              <a:t>difficult to implement and test at a student project level</a:t>
            </a:r>
            <a:r>
              <a:rPr lang="en-US" sz="1500" dirty="0"/>
              <a:t>. </a:t>
            </a:r>
          </a:p>
          <a:p>
            <a:pPr marL="0" indent="0">
              <a:buNone/>
            </a:pPr>
            <a:r>
              <a:rPr lang="en-US" sz="1600" b="1" dirty="0"/>
              <a:t>Identified Research Gap</a:t>
            </a:r>
          </a:p>
          <a:p>
            <a:r>
              <a:rPr lang="en-US" sz="1500" dirty="0"/>
              <a:t>Very few projects </a:t>
            </a:r>
            <a:r>
              <a:rPr lang="en-US" sz="1500" b="1" dirty="0"/>
              <a:t>compare a mathematical traffic control model and a Deep Reinforcement Learning (DRL) model together</a:t>
            </a:r>
            <a:r>
              <a:rPr lang="en-US" sz="1500" dirty="0"/>
              <a:t>. </a:t>
            </a:r>
          </a:p>
          <a:p>
            <a:pPr>
              <a:lnSpc>
                <a:spcPct val="150000"/>
              </a:lnSpc>
            </a:pPr>
            <a:r>
              <a:rPr lang="en-US" sz="1500" dirty="0"/>
              <a:t>Most studies </a:t>
            </a:r>
            <a:r>
              <a:rPr lang="en-US" sz="1500" b="1" dirty="0"/>
              <a:t>do not evaluate both approaches under the same traffic conditions and performance metrics</a:t>
            </a:r>
            <a:r>
              <a:rPr lang="en-US" sz="1500" dirty="0"/>
              <a:t>. </a:t>
            </a:r>
          </a:p>
          <a:p>
            <a:pPr>
              <a:lnSpc>
                <a:spcPct val="150000"/>
              </a:lnSpc>
              <a:buFont typeface="Wingdings" panose="05000000000000000000" pitchFamily="2" charset="2"/>
              <a:buChar char="v"/>
            </a:pPr>
            <a:r>
              <a:rPr lang="en-US" sz="1600" b="1" dirty="0"/>
              <a:t>How Our Project Addresses This Gap</a:t>
            </a:r>
          </a:p>
          <a:p>
            <a:pPr marL="0" indent="0">
              <a:buNone/>
            </a:pPr>
            <a:r>
              <a:rPr lang="en-US" sz="1600" dirty="0"/>
              <a:t>Our project compares </a:t>
            </a:r>
            <a:r>
              <a:rPr lang="en-US" sz="1600" b="1" dirty="0"/>
              <a:t>both approaches in a single system</a:t>
            </a:r>
            <a:r>
              <a:rPr lang="en-US" sz="1600" dirty="0"/>
              <a:t>. </a:t>
            </a:r>
          </a:p>
          <a:p>
            <a:r>
              <a:rPr lang="en-US" sz="1600" dirty="0"/>
              <a:t>A </a:t>
            </a:r>
            <a:r>
              <a:rPr lang="en-US" sz="1600" b="1" dirty="0"/>
              <a:t>four-way traffic intersection simulator</a:t>
            </a:r>
            <a:r>
              <a:rPr lang="en-US" sz="1600" dirty="0"/>
              <a:t> is used for testing. </a:t>
            </a:r>
          </a:p>
          <a:p>
            <a:r>
              <a:rPr lang="en-US" sz="1600" dirty="0"/>
              <a:t>Both models use: </a:t>
            </a:r>
          </a:p>
          <a:p>
            <a:pPr lvl="1"/>
            <a:r>
              <a:rPr lang="en-US" sz="1600" dirty="0"/>
              <a:t>the </a:t>
            </a:r>
            <a:r>
              <a:rPr lang="en-US" sz="1600" b="1" dirty="0"/>
              <a:t>same traffic input data</a:t>
            </a:r>
            <a:r>
              <a:rPr lang="en-US" sz="1600" dirty="0"/>
              <a:t> </a:t>
            </a:r>
          </a:p>
          <a:p>
            <a:pPr lvl="1"/>
            <a:r>
              <a:rPr lang="en-US" sz="1600" dirty="0"/>
              <a:t>the </a:t>
            </a:r>
            <a:r>
              <a:rPr lang="en-US" sz="1600" b="1" dirty="0"/>
              <a:t>same safety rules</a:t>
            </a:r>
            <a:r>
              <a:rPr lang="en-US" sz="1600" dirty="0"/>
              <a:t> </a:t>
            </a:r>
          </a:p>
          <a:p>
            <a:pPr lvl="1"/>
            <a:r>
              <a:rPr lang="en-US" sz="1600" dirty="0"/>
              <a:t>the </a:t>
            </a:r>
            <a:r>
              <a:rPr lang="en-US" sz="1600" b="1" dirty="0"/>
              <a:t>same performance metrics</a:t>
            </a:r>
            <a:r>
              <a:rPr lang="en-US" sz="1600" dirty="0"/>
              <a:t> </a:t>
            </a:r>
          </a:p>
          <a:p>
            <a:pPr marL="0" indent="0">
              <a:buNone/>
            </a:pPr>
            <a:r>
              <a:rPr lang="en-US" sz="1600" dirty="0"/>
              <a:t>   This allows a </a:t>
            </a:r>
            <a:r>
              <a:rPr lang="en-US" sz="1600" b="1" dirty="0"/>
              <a:t>fair comparison to determine which method manages traffic more efficiently</a:t>
            </a:r>
            <a:r>
              <a:rPr lang="en-US" sz="1600" dirty="0"/>
              <a:t>.</a:t>
            </a:r>
          </a:p>
          <a:p>
            <a:endParaRPr lang="en-US" sz="1600" dirty="0"/>
          </a:p>
        </p:txBody>
      </p:sp>
      <p:sp>
        <p:nvSpPr>
          <p:cNvPr id="7" name="Footer Placeholder 3">
            <a:extLst>
              <a:ext uri="{FF2B5EF4-FFF2-40B4-BE49-F238E27FC236}">
                <a16:creationId xmlns:a16="http://schemas.microsoft.com/office/drawing/2014/main" id="{DCFF025D-E109-3DE9-40BE-D785EDC52E12}"/>
              </a:ext>
            </a:extLst>
          </p:cNvPr>
          <p:cNvSpPr>
            <a:spLocks noGrp="1"/>
          </p:cNvSpPr>
          <p:nvPr>
            <p:ph type="ftr" sz="quarter" idx="11"/>
          </p:nvPr>
        </p:nvSpPr>
        <p:spPr>
          <a:xfrm>
            <a:off x="4038600" y="6492875"/>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6438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F7DC0-C61F-F6C0-9893-15C51F09D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1C48B-1300-5EF3-AEE1-F50CC641770B}"/>
              </a:ext>
            </a:extLst>
          </p:cNvPr>
          <p:cNvSpPr>
            <a:spLocks noGrp="1"/>
          </p:cNvSpPr>
          <p:nvPr>
            <p:ph type="title"/>
          </p:nvPr>
        </p:nvSpPr>
        <p:spPr>
          <a:xfrm>
            <a:off x="838200" y="0"/>
            <a:ext cx="10515600" cy="1325563"/>
          </a:xfrm>
        </p:spPr>
        <p:txBody>
          <a:bodyPr/>
          <a:lstStyle/>
          <a:p>
            <a:pPr algn="ctr"/>
            <a:r>
              <a:rPr lang="en-US" b="1" dirty="0">
                <a:latin typeface="Times New Roman" panose="02020603050405020304" pitchFamily="18" charset="0"/>
                <a:cs typeface="Times New Roman" pitchFamily="18" charset="0"/>
              </a:rPr>
              <a:t>Proposed System</a:t>
            </a:r>
          </a:p>
        </p:txBody>
      </p:sp>
      <p:sp>
        <p:nvSpPr>
          <p:cNvPr id="3" name="Content Placeholder 2">
            <a:extLst>
              <a:ext uri="{FF2B5EF4-FFF2-40B4-BE49-F238E27FC236}">
                <a16:creationId xmlns:a16="http://schemas.microsoft.com/office/drawing/2014/main" id="{39B9D65A-AD8C-CF77-E486-BD30921AFBA0}"/>
              </a:ext>
            </a:extLst>
          </p:cNvPr>
          <p:cNvSpPr>
            <a:spLocks noGrp="1"/>
          </p:cNvSpPr>
          <p:nvPr>
            <p:ph idx="1"/>
          </p:nvPr>
        </p:nvSpPr>
        <p:spPr>
          <a:xfrm>
            <a:off x="838200" y="1589087"/>
            <a:ext cx="10515600" cy="4351338"/>
          </a:xfrm>
        </p:spPr>
        <p:txBody>
          <a:bodyPr/>
          <a:lstStyle/>
          <a:p>
            <a:pPr marL="0" indent="0">
              <a:buNone/>
            </a:pPr>
            <a:r>
              <a:rPr lang="en-US" sz="2400" b="1" dirty="0">
                <a:latin typeface="Times New Roman" panose="02020603050405020304" pitchFamily="18" charset="0"/>
                <a:cs typeface="Times New Roman" panose="02020603050405020304" pitchFamily="18" charset="0"/>
              </a:rPr>
              <a:t>Overview of the Proposed Solution</a:t>
            </a:r>
          </a:p>
          <a:p>
            <a:pPr marL="0" indent="0">
              <a:buNone/>
            </a:pPr>
            <a:r>
              <a:rPr lang="en-US" sz="2100" dirty="0">
                <a:latin typeface="Times New Roman" panose="02020603050405020304" pitchFamily="18" charset="0"/>
                <a:cs typeface="Times New Roman" panose="02020603050405020304" pitchFamily="18" charset="0"/>
              </a:rPr>
              <a:t>The proposed system is a </a:t>
            </a:r>
            <a:r>
              <a:rPr lang="en-US" sz="2100" b="1" dirty="0">
                <a:latin typeface="Times New Roman" panose="02020603050405020304" pitchFamily="18" charset="0"/>
                <a:cs typeface="Times New Roman" panose="02020603050405020304" pitchFamily="18" charset="0"/>
              </a:rPr>
              <a:t>Smart Traffic Control System</a:t>
            </a:r>
            <a:r>
              <a:rPr lang="en-US" sz="2100" dirty="0">
                <a:latin typeface="Times New Roman" panose="02020603050405020304" pitchFamily="18" charset="0"/>
                <a:cs typeface="Times New Roman" panose="02020603050405020304" pitchFamily="18" charset="0"/>
              </a:rPr>
              <a:t> designed to simulate and optimize vehicle movement at a </a:t>
            </a:r>
            <a:r>
              <a:rPr lang="en-US" sz="2100" b="1" dirty="0">
                <a:latin typeface="Times New Roman" panose="02020603050405020304" pitchFamily="18" charset="0"/>
                <a:cs typeface="Times New Roman" panose="02020603050405020304" pitchFamily="18" charset="0"/>
              </a:rPr>
              <a:t>four‑way road intersection</a:t>
            </a:r>
            <a:r>
              <a:rPr lang="en-US" sz="2100" dirty="0">
                <a:latin typeface="Times New Roman" panose="02020603050405020304" pitchFamily="18" charset="0"/>
                <a:cs typeface="Times New Roman" panose="02020603050405020304" pitchFamily="18" charset="0"/>
              </a:rPr>
              <a:t>. The system compares two traffic control approaches:</a:t>
            </a:r>
          </a:p>
          <a:p>
            <a:r>
              <a:rPr lang="en-US" sz="2100" b="1" dirty="0">
                <a:latin typeface="Times New Roman" panose="02020603050405020304" pitchFamily="18" charset="0"/>
                <a:cs typeface="Times New Roman" panose="02020603050405020304" pitchFamily="18" charset="0"/>
              </a:rPr>
              <a:t>Mathematical Predictive Model</a:t>
            </a:r>
            <a:endParaRPr lang="en-US" sz="2100" dirty="0">
              <a:latin typeface="Times New Roman" panose="02020603050405020304" pitchFamily="18" charset="0"/>
              <a:cs typeface="Times New Roman" panose="02020603050405020304" pitchFamily="18" charset="0"/>
            </a:endParaRPr>
          </a:p>
          <a:p>
            <a:r>
              <a:rPr lang="en-US" sz="2100" b="1" dirty="0">
                <a:latin typeface="Times New Roman" panose="02020603050405020304" pitchFamily="18" charset="0"/>
                <a:cs typeface="Times New Roman" panose="02020603050405020304" pitchFamily="18" charset="0"/>
              </a:rPr>
              <a:t>Deep Reinforcement Learning (DRL) Model</a:t>
            </a:r>
            <a:endParaRPr lang="en-US" sz="2100" dirty="0">
              <a:latin typeface="Times New Roman" panose="02020603050405020304" pitchFamily="18" charset="0"/>
              <a:cs typeface="Times New Roman" panose="02020603050405020304" pitchFamily="18" charset="0"/>
            </a:endParaRPr>
          </a:p>
          <a:p>
            <a:pPr marL="0" indent="0">
              <a:buNone/>
            </a:pPr>
            <a:r>
              <a:rPr lang="en-US" sz="2100" dirty="0">
                <a:latin typeface="Times New Roman" panose="02020603050405020304" pitchFamily="18" charset="0"/>
                <a:cs typeface="Times New Roman" panose="02020603050405020304" pitchFamily="18" charset="0"/>
              </a:rPr>
              <a:t>Both models operate within the </a:t>
            </a:r>
            <a:r>
              <a:rPr lang="en-US" sz="2100" b="1" dirty="0">
                <a:latin typeface="Times New Roman" panose="02020603050405020304" pitchFamily="18" charset="0"/>
                <a:cs typeface="Times New Roman" panose="02020603050405020304" pitchFamily="18" charset="0"/>
              </a:rPr>
              <a:t>same traffic simulation environment</a:t>
            </a:r>
            <a:r>
              <a:rPr lang="en-US" sz="2100" dirty="0">
                <a:latin typeface="Times New Roman" panose="02020603050405020304" pitchFamily="18" charset="0"/>
                <a:cs typeface="Times New Roman" panose="02020603050405020304" pitchFamily="18" charset="0"/>
              </a:rPr>
              <a:t>, allowing a fair comparison of their performance under identical traffic conditions.</a:t>
            </a:r>
          </a:p>
          <a:p>
            <a:pPr marL="0" indent="0">
              <a:buNone/>
            </a:pPr>
            <a:r>
              <a:rPr lang="en-US" sz="2100" dirty="0">
                <a:latin typeface="Times New Roman" panose="02020603050405020304" pitchFamily="18" charset="0"/>
                <a:cs typeface="Times New Roman" panose="02020603050405020304" pitchFamily="18" charset="0"/>
              </a:rPr>
              <a:t>The system observes real‑time traffic parameters such as </a:t>
            </a:r>
            <a:r>
              <a:rPr lang="en-US" sz="2100" b="1" dirty="0">
                <a:latin typeface="Times New Roman" panose="02020603050405020304" pitchFamily="18" charset="0"/>
                <a:cs typeface="Times New Roman" panose="02020603050405020304" pitchFamily="18" charset="0"/>
              </a:rPr>
              <a:t>queue length, waiting time, and traffic density</a:t>
            </a:r>
            <a:r>
              <a:rPr lang="en-US" sz="2100" dirty="0">
                <a:latin typeface="Times New Roman" panose="02020603050405020304" pitchFamily="18" charset="0"/>
                <a:cs typeface="Times New Roman" panose="02020603050405020304" pitchFamily="18" charset="0"/>
              </a:rPr>
              <a:t>, and uses these parameters to determine which lane should receive the </a:t>
            </a:r>
            <a:r>
              <a:rPr lang="en-US" sz="2100" b="1" dirty="0">
                <a:latin typeface="Times New Roman" panose="02020603050405020304" pitchFamily="18" charset="0"/>
                <a:cs typeface="Times New Roman" panose="02020603050405020304" pitchFamily="18" charset="0"/>
              </a:rPr>
              <a:t>green traffic signal</a:t>
            </a:r>
            <a:r>
              <a:rPr lang="en-US" sz="2100" dirty="0">
                <a:latin typeface="Times New Roman" panose="02020603050405020304" pitchFamily="18" charset="0"/>
                <a:cs typeface="Times New Roman" panose="02020603050405020304" pitchFamily="18" charset="0"/>
              </a:rPr>
              <a:t>.</a:t>
            </a:r>
          </a:p>
          <a:p>
            <a:pPr marL="0" indent="0">
              <a:buNone/>
            </a:pPr>
            <a:r>
              <a:rPr lang="en-US" sz="2100" dirty="0">
                <a:latin typeface="Times New Roman" panose="02020603050405020304" pitchFamily="18" charset="0"/>
                <a:cs typeface="Times New Roman" panose="02020603050405020304" pitchFamily="18" charset="0"/>
              </a:rPr>
              <a:t>The goal of the proposed system is to </a:t>
            </a:r>
            <a:r>
              <a:rPr lang="en-US" sz="2100" b="1" dirty="0">
                <a:latin typeface="Times New Roman" panose="02020603050405020304" pitchFamily="18" charset="0"/>
                <a:cs typeface="Times New Roman" panose="02020603050405020304" pitchFamily="18" charset="0"/>
              </a:rPr>
              <a:t>reduce congestion, minimize waiting time, and improve traffic flow efficiency</a:t>
            </a:r>
            <a:r>
              <a:rPr lang="en-US" sz="21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ED23E45-7FC4-C369-484B-502E3054DAFE}"/>
              </a:ext>
            </a:extLst>
          </p:cNvPr>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FFB5C5E7-19C7-13D8-12F5-CD3FC3599F4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80149"/>
            <a:ext cx="123126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3011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3DAFD-0691-40AD-8507-2BF53DE38F1B}"/>
            </a:ext>
          </a:extLst>
        </p:cNvPr>
        <p:cNvGrpSpPr/>
        <p:nvPr/>
      </p:nvGrpSpPr>
      <p:grpSpPr>
        <a:xfrm>
          <a:off x="0" y="0"/>
          <a:ext cx="0" cy="0"/>
          <a:chOff x="0" y="0"/>
          <a:chExt cx="0" cy="0"/>
        </a:xfrm>
      </p:grpSpPr>
      <p:pic>
        <p:nvPicPr>
          <p:cNvPr id="2050" name="Picture 2" descr="Image attachment">
            <a:extLst>
              <a:ext uri="{FF2B5EF4-FFF2-40B4-BE49-F238E27FC236}">
                <a16:creationId xmlns:a16="http://schemas.microsoft.com/office/drawing/2014/main" id="{6ADC4DCD-8F0D-97F7-43D0-1ABCEFBE02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91" r="7888" b="40023"/>
          <a:stretch>
            <a:fillRect/>
          </a:stretch>
        </p:blipFill>
        <p:spPr bwMode="auto">
          <a:xfrm>
            <a:off x="674571" y="680289"/>
            <a:ext cx="5665269" cy="595972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067FC24-6972-1C20-63EF-E385251761D2}"/>
              </a:ext>
            </a:extLst>
          </p:cNvPr>
          <p:cNvSpPr>
            <a:spLocks noGrp="1"/>
          </p:cNvSpPr>
          <p:nvPr>
            <p:ph type="title"/>
          </p:nvPr>
        </p:nvSpPr>
        <p:spPr>
          <a:xfrm>
            <a:off x="838200" y="-252413"/>
            <a:ext cx="10515600" cy="1325563"/>
          </a:xfrm>
        </p:spPr>
        <p:txBody>
          <a:bodyPr/>
          <a:lstStyle/>
          <a:p>
            <a:pPr algn="ctr"/>
            <a:r>
              <a:rPr lang="en-US" sz="4200" b="1" dirty="0">
                <a:latin typeface="Times New Roman" panose="02020603050405020304" pitchFamily="18" charset="0"/>
                <a:cs typeface="Times New Roman" panose="02020603050405020304" pitchFamily="18" charset="0"/>
              </a:rPr>
              <a:t>Proposed System Architecture Diagram</a:t>
            </a:r>
          </a:p>
        </p:txBody>
      </p:sp>
      <p:sp>
        <p:nvSpPr>
          <p:cNvPr id="4" name="Footer Placeholder 3">
            <a:extLst>
              <a:ext uri="{FF2B5EF4-FFF2-40B4-BE49-F238E27FC236}">
                <a16:creationId xmlns:a16="http://schemas.microsoft.com/office/drawing/2014/main" id="{B064AEC5-0B96-99DF-10AD-D00415A1E6EB}"/>
              </a:ext>
            </a:extLst>
          </p:cNvPr>
          <p:cNvSpPr>
            <a:spLocks noGrp="1"/>
          </p:cNvSpPr>
          <p:nvPr>
            <p:ph type="ftr" sz="quarter" idx="11"/>
          </p:nvPr>
        </p:nvSpPr>
        <p:spPr>
          <a:xfrm>
            <a:off x="4038600" y="6356350"/>
            <a:ext cx="4114800" cy="365125"/>
          </a:xfrm>
        </p:spPr>
        <p:txBody>
          <a:bodyPr/>
          <a:lstStyle/>
          <a:p>
            <a:r>
              <a:rPr lang="en-US" dirty="0"/>
              <a:t>Department of Artificial (AI) Intelligence and Data Science</a:t>
            </a:r>
            <a:endParaRPr lang="en-IN" dirty="0"/>
          </a:p>
        </p:txBody>
      </p:sp>
      <p:pic>
        <p:nvPicPr>
          <p:cNvPr id="5" name="Picture 1">
            <a:extLst>
              <a:ext uri="{FF2B5EF4-FFF2-40B4-BE49-F238E27FC236}">
                <a16:creationId xmlns:a16="http://schemas.microsoft.com/office/drawing/2014/main" id="{A624B209-9419-298A-F641-1F127EE37C8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80149"/>
            <a:ext cx="123126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4" descr="Image attachment">
            <a:extLst>
              <a:ext uri="{FF2B5EF4-FFF2-40B4-BE49-F238E27FC236}">
                <a16:creationId xmlns:a16="http://schemas.microsoft.com/office/drawing/2014/main" id="{78EC7535-D2D2-C1DD-5F46-357DA58C91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888" t="56718" r="18492" b="-1"/>
          <a:stretch>
            <a:fillRect/>
          </a:stretch>
        </p:blipFill>
        <p:spPr bwMode="auto">
          <a:xfrm>
            <a:off x="7141946" y="1518920"/>
            <a:ext cx="3961954" cy="3980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163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83530-F5A9-5401-594B-0F1EF0625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093DC-D830-49C5-A1D6-7DA60C8F919B}"/>
              </a:ext>
            </a:extLst>
          </p:cNvPr>
          <p:cNvSpPr>
            <a:spLocks noGrp="1"/>
          </p:cNvSpPr>
          <p:nvPr>
            <p:ph type="title"/>
          </p:nvPr>
        </p:nvSpPr>
        <p:spPr/>
        <p:txBody>
          <a:bodyPr/>
          <a:lstStyle/>
          <a:p>
            <a:pPr algn="ctr"/>
            <a:r>
              <a:rPr lang="en-US" b="1" dirty="0">
                <a:latin typeface="Times New Roman" panose="02020603050405020304" pitchFamily="18" charset="0"/>
                <a:cs typeface="Times New Roman" pitchFamily="18" charset="0"/>
              </a:rPr>
              <a:t>Methodology</a:t>
            </a:r>
          </a:p>
        </p:txBody>
      </p:sp>
      <p:sp>
        <p:nvSpPr>
          <p:cNvPr id="3" name="Content Placeholder 2">
            <a:extLst>
              <a:ext uri="{FF2B5EF4-FFF2-40B4-BE49-F238E27FC236}">
                <a16:creationId xmlns:a16="http://schemas.microsoft.com/office/drawing/2014/main" id="{1D479EC5-F173-CF2E-CDF6-3A61321B5353}"/>
              </a:ext>
            </a:extLst>
          </p:cNvPr>
          <p:cNvSpPr>
            <a:spLocks noGrp="1"/>
          </p:cNvSpPr>
          <p:nvPr>
            <p:ph idx="1"/>
          </p:nvPr>
        </p:nvSpPr>
        <p:spPr/>
        <p:txBody>
          <a:bodyPr/>
          <a:lstStyle/>
          <a:p>
            <a:pPr marL="0" indent="0">
              <a:buNone/>
            </a:pPr>
            <a:r>
              <a:rPr lang="en-US" sz="2400" b="1" dirty="0">
                <a:latin typeface="Times New Roman" panose="02020603050405020304" pitchFamily="18" charset="0"/>
                <a:cs typeface="Times New Roman" panose="02020603050405020304" pitchFamily="18" charset="0"/>
              </a:rPr>
              <a:t>Tools and Technologies Used</a:t>
            </a:r>
          </a:p>
          <a:p>
            <a:pPr marL="0" indent="0">
              <a:buNone/>
            </a:pPr>
            <a:r>
              <a:rPr lang="en-US" sz="1800" dirty="0">
                <a:latin typeface="Times New Roman" panose="02020603050405020304" pitchFamily="18" charset="0"/>
                <a:cs typeface="Times New Roman" panose="02020603050405020304" pitchFamily="18" charset="0"/>
              </a:rPr>
              <a:t>The proposed system was developed using the following tools and technologies:</a:t>
            </a:r>
          </a:p>
          <a:p>
            <a:r>
              <a:rPr lang="en-US" sz="1800" b="1" dirty="0">
                <a:latin typeface="Times New Roman" panose="02020603050405020304" pitchFamily="18" charset="0"/>
                <a:cs typeface="Times New Roman" panose="02020603050405020304" pitchFamily="18" charset="0"/>
              </a:rPr>
              <a:t>Python</a:t>
            </a:r>
            <a:r>
              <a:rPr lang="en-US" sz="1800" dirty="0">
                <a:latin typeface="Times New Roman" panose="02020603050405020304" pitchFamily="18" charset="0"/>
                <a:cs typeface="Times New Roman" panose="02020603050405020304" pitchFamily="18" charset="0"/>
              </a:rPr>
              <a:t> – Main programming language used to implement the traffic simulation and control logic.</a:t>
            </a:r>
          </a:p>
          <a:p>
            <a:r>
              <a:rPr lang="en-US" sz="1800" b="1" dirty="0" err="1">
                <a:latin typeface="Times New Roman" panose="02020603050405020304" pitchFamily="18" charset="0"/>
                <a:cs typeface="Times New Roman" panose="02020603050405020304" pitchFamily="18" charset="0"/>
              </a:rPr>
              <a:t>Pygame</a:t>
            </a:r>
            <a:r>
              <a:rPr lang="en-US" sz="1800" b="1" dirty="0">
                <a:latin typeface="Times New Roman" panose="02020603050405020304" pitchFamily="18" charset="0"/>
                <a:cs typeface="Times New Roman" panose="02020603050405020304" pitchFamily="18" charset="0"/>
              </a:rPr>
              <a:t> Library</a:t>
            </a:r>
            <a:r>
              <a:rPr lang="en-US" sz="1800" dirty="0">
                <a:latin typeface="Times New Roman" panose="02020603050405020304" pitchFamily="18" charset="0"/>
                <a:cs typeface="Times New Roman" panose="02020603050405020304" pitchFamily="18" charset="0"/>
              </a:rPr>
              <a:t> – Used to create the graphical traffic simulation interface and visualize vehicle movement.</a:t>
            </a:r>
          </a:p>
          <a:p>
            <a:r>
              <a:rPr lang="en-US" sz="1800" b="1" dirty="0">
                <a:latin typeface="Times New Roman" panose="02020603050405020304" pitchFamily="18" charset="0"/>
                <a:cs typeface="Times New Roman" panose="02020603050405020304" pitchFamily="18" charset="0"/>
              </a:rPr>
              <a:t>NumPy</a:t>
            </a:r>
            <a:r>
              <a:rPr lang="en-US" sz="1800" dirty="0">
                <a:latin typeface="Times New Roman" panose="02020603050405020304" pitchFamily="18" charset="0"/>
                <a:cs typeface="Times New Roman" panose="02020603050405020304" pitchFamily="18" charset="0"/>
              </a:rPr>
              <a:t> – Used for numerical computations and traffic data processing.</a:t>
            </a:r>
          </a:p>
          <a:p>
            <a:r>
              <a:rPr lang="en-US" sz="1800" b="1" dirty="0">
                <a:latin typeface="Times New Roman" panose="02020603050405020304" pitchFamily="18" charset="0"/>
                <a:cs typeface="Times New Roman" panose="02020603050405020304" pitchFamily="18" charset="0"/>
              </a:rPr>
              <a:t>Deep Reinforcement Learning (DQN)</a:t>
            </a:r>
            <a:r>
              <a:rPr lang="en-US" sz="1800" dirty="0">
                <a:latin typeface="Times New Roman" panose="02020603050405020304" pitchFamily="18" charset="0"/>
                <a:cs typeface="Times New Roman" panose="02020603050405020304" pitchFamily="18" charset="0"/>
              </a:rPr>
              <a:t> – Used to develop the intelligent traffic signal decision agent.</a:t>
            </a:r>
          </a:p>
          <a:p>
            <a:r>
              <a:rPr lang="en-US" sz="1800" b="1" dirty="0">
                <a:latin typeface="Times New Roman" panose="02020603050405020304" pitchFamily="18" charset="0"/>
                <a:cs typeface="Times New Roman" panose="02020603050405020304" pitchFamily="18" charset="0"/>
              </a:rPr>
              <a:t>Mathematical Predictive Model</a:t>
            </a:r>
            <a:r>
              <a:rPr lang="en-US" sz="1800" dirty="0">
                <a:latin typeface="Times New Roman" panose="02020603050405020304" pitchFamily="18" charset="0"/>
                <a:cs typeface="Times New Roman" panose="02020603050405020304" pitchFamily="18" charset="0"/>
              </a:rPr>
              <a:t> – Implemented for rule‑based traffic signal control and comparison.</a:t>
            </a:r>
          </a:p>
          <a:p>
            <a:pPr marL="0" indent="0">
              <a:buNone/>
            </a:pPr>
            <a:endParaRPr lang="en-US" sz="1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99531FD-03A0-3A93-A77A-AFB6E73CC382}"/>
              </a:ext>
            </a:extLst>
          </p:cNvPr>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5E94A08E-8097-D691-E43C-FB62C2B56AD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5691188"/>
            <a:ext cx="228917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6619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FE43D-B04A-4EB2-2636-CF5D1C344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9A788-9400-32EE-DA86-4E3338B9CD57}"/>
              </a:ext>
            </a:extLst>
          </p:cNvPr>
          <p:cNvSpPr>
            <a:spLocks noGrp="1"/>
          </p:cNvSpPr>
          <p:nvPr>
            <p:ph type="title"/>
          </p:nvPr>
        </p:nvSpPr>
        <p:spPr/>
        <p:txBody>
          <a:bodyPr/>
          <a:lstStyle/>
          <a:p>
            <a:pPr algn="ctr"/>
            <a:r>
              <a:rPr lang="en-US" b="1" dirty="0">
                <a:latin typeface="Times New Roman" panose="02020603050405020304" pitchFamily="18" charset="0"/>
                <a:cs typeface="Times New Roman" pitchFamily="18" charset="0"/>
              </a:rPr>
              <a:t>Methodology</a:t>
            </a:r>
          </a:p>
        </p:txBody>
      </p:sp>
      <p:sp>
        <p:nvSpPr>
          <p:cNvPr id="3" name="Content Placeholder 2">
            <a:extLst>
              <a:ext uri="{FF2B5EF4-FFF2-40B4-BE49-F238E27FC236}">
                <a16:creationId xmlns:a16="http://schemas.microsoft.com/office/drawing/2014/main" id="{4EB31A22-22E2-4FEE-14A6-69D5C3C5F0FD}"/>
              </a:ext>
            </a:extLst>
          </p:cNvPr>
          <p:cNvSpPr>
            <a:spLocks noGrp="1"/>
          </p:cNvSpPr>
          <p:nvPr>
            <p:ph idx="1"/>
          </p:nvPr>
        </p:nvSpPr>
        <p:spPr>
          <a:xfrm>
            <a:off x="838200" y="1500505"/>
            <a:ext cx="10515600" cy="4351338"/>
          </a:xfrm>
        </p:spPr>
        <p:txBody>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The project follows a structured methodology consisting of the following steps:</a:t>
            </a:r>
          </a:p>
          <a:p>
            <a:pPr marL="0" indent="0">
              <a:lnSpc>
                <a:spcPct val="150000"/>
              </a:lnSpc>
              <a:buNone/>
            </a:pPr>
            <a:r>
              <a:rPr lang="en-US" sz="1800" b="1" dirty="0">
                <a:latin typeface="Times New Roman" panose="02020603050405020304" pitchFamily="18" charset="0"/>
                <a:cs typeface="Times New Roman" panose="02020603050405020304" pitchFamily="18" charset="0"/>
              </a:rPr>
              <a:t>1. Traffic Generation</a:t>
            </a:r>
          </a:p>
          <a:p>
            <a:r>
              <a:rPr lang="en-US" sz="1800" dirty="0">
                <a:latin typeface="Times New Roman" panose="02020603050405020304" pitchFamily="18" charset="0"/>
                <a:cs typeface="Times New Roman" panose="02020603050405020304" pitchFamily="18" charset="0"/>
              </a:rPr>
              <a:t>Vehicles are generated dynamically from four directions (North, South, East, West).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Traffic scenarios such as </a:t>
            </a:r>
            <a:r>
              <a:rPr lang="en-US" sz="1800" b="1" dirty="0">
                <a:latin typeface="Times New Roman" panose="02020603050405020304" pitchFamily="18" charset="0"/>
                <a:cs typeface="Times New Roman" panose="02020603050405020304" pitchFamily="18" charset="0"/>
              </a:rPr>
              <a:t>Low, Balanced, and Peak traffic</a:t>
            </a:r>
            <a:r>
              <a:rPr lang="en-US" sz="1800" dirty="0">
                <a:latin typeface="Times New Roman" panose="02020603050405020304" pitchFamily="18" charset="0"/>
                <a:cs typeface="Times New Roman" panose="02020603050405020304" pitchFamily="18" charset="0"/>
              </a:rPr>
              <a:t> determine the vehicle generation rate.</a:t>
            </a:r>
          </a:p>
          <a:p>
            <a:pPr marL="0" indent="0">
              <a:buNone/>
            </a:pPr>
            <a:r>
              <a:rPr lang="en-US" sz="1800" b="1" dirty="0">
                <a:latin typeface="Times New Roman" panose="02020603050405020304" pitchFamily="18" charset="0"/>
                <a:cs typeface="Times New Roman" panose="02020603050405020304" pitchFamily="18" charset="0"/>
              </a:rPr>
              <a:t>2. Traffic Simulation</a:t>
            </a:r>
          </a:p>
          <a:p>
            <a:r>
              <a:rPr lang="en-US" sz="1800" dirty="0">
                <a:latin typeface="Times New Roman" panose="02020603050405020304" pitchFamily="18" charset="0"/>
                <a:cs typeface="Times New Roman" panose="02020603050405020304" pitchFamily="18" charset="0"/>
              </a:rPr>
              <a:t>A four‑way intersection environment is simulated where vehicles move according to traffic rules such as stopping at red signals and moving during green signals.</a:t>
            </a:r>
          </a:p>
          <a:p>
            <a:pPr marL="0" indent="0">
              <a:buNone/>
            </a:pPr>
            <a:r>
              <a:rPr lang="en-US" sz="1800" b="1" dirty="0">
                <a:latin typeface="Times New Roman" panose="02020603050405020304" pitchFamily="18" charset="0"/>
                <a:cs typeface="Times New Roman" panose="02020603050405020304" pitchFamily="18" charset="0"/>
              </a:rPr>
              <a:t>3. Traffic State Observation</a:t>
            </a:r>
          </a:p>
          <a:p>
            <a:pPr marL="0" indent="0">
              <a:buNone/>
            </a:pPr>
            <a:r>
              <a:rPr lang="en-US" sz="1800" dirty="0">
                <a:latin typeface="Times New Roman" panose="02020603050405020304" pitchFamily="18" charset="0"/>
                <a:cs typeface="Times New Roman" panose="02020603050405020304" pitchFamily="18" charset="0"/>
              </a:rPr>
              <a:t>The system continuously monitors traffic conditions and calculates parameters such as:</a:t>
            </a:r>
          </a:p>
          <a:p>
            <a:r>
              <a:rPr lang="en-US" sz="1800" dirty="0">
                <a:latin typeface="Times New Roman" panose="02020603050405020304" pitchFamily="18" charset="0"/>
                <a:cs typeface="Times New Roman" panose="02020603050405020304" pitchFamily="18" charset="0"/>
              </a:rPr>
              <a:t>Queue Length</a:t>
            </a:r>
          </a:p>
          <a:p>
            <a:r>
              <a:rPr lang="en-US" sz="1800" dirty="0">
                <a:latin typeface="Times New Roman" panose="02020603050405020304" pitchFamily="18" charset="0"/>
                <a:cs typeface="Times New Roman" panose="02020603050405020304" pitchFamily="18" charset="0"/>
              </a:rPr>
              <a:t>Waiting Time</a:t>
            </a:r>
          </a:p>
          <a:p>
            <a:r>
              <a:rPr lang="en-US" sz="1800" dirty="0">
                <a:latin typeface="Times New Roman" panose="02020603050405020304" pitchFamily="18" charset="0"/>
                <a:cs typeface="Times New Roman" panose="02020603050405020304" pitchFamily="18" charset="0"/>
              </a:rPr>
              <a:t>Traffic Density</a:t>
            </a:r>
          </a:p>
          <a:p>
            <a:pPr marL="0" indent="0">
              <a:buNone/>
            </a:pPr>
            <a:r>
              <a:rPr lang="en-US" sz="1800" dirty="0">
                <a:latin typeface="Times New Roman" panose="02020603050405020304" pitchFamily="18" charset="0"/>
                <a:cs typeface="Times New Roman" panose="02020603050405020304" pitchFamily="18" charset="0"/>
              </a:rPr>
              <a:t>These values represent the current traffic state.</a:t>
            </a:r>
          </a:p>
        </p:txBody>
      </p:sp>
      <p:sp>
        <p:nvSpPr>
          <p:cNvPr id="4" name="Footer Placeholder 3">
            <a:extLst>
              <a:ext uri="{FF2B5EF4-FFF2-40B4-BE49-F238E27FC236}">
                <a16:creationId xmlns:a16="http://schemas.microsoft.com/office/drawing/2014/main" id="{C29053FB-9D34-2142-92A1-B3AD4F58A0FA}"/>
              </a:ext>
            </a:extLst>
          </p:cNvPr>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125F3F8E-AAAC-DBA2-78CF-141A98396BD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356350"/>
            <a:ext cx="13208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2423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B139B-621B-8315-BF28-583039E57BEF}"/>
            </a:ext>
          </a:extLst>
        </p:cNvPr>
        <p:cNvGrpSpPr/>
        <p:nvPr/>
      </p:nvGrpSpPr>
      <p:grpSpPr>
        <a:xfrm>
          <a:off x="0" y="0"/>
          <a:ext cx="0" cy="0"/>
          <a:chOff x="0" y="0"/>
          <a:chExt cx="0" cy="0"/>
        </a:xfrm>
      </p:grpSpPr>
      <p:pic>
        <p:nvPicPr>
          <p:cNvPr id="5" name="Picture 1">
            <a:extLst>
              <a:ext uri="{FF2B5EF4-FFF2-40B4-BE49-F238E27FC236}">
                <a16:creationId xmlns:a16="http://schemas.microsoft.com/office/drawing/2014/main" id="{5BFD5515-D2D8-F495-982C-33225845392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176962"/>
            <a:ext cx="129032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02FECE2D-B61A-A6C6-78B2-8FA4047B3907}"/>
              </a:ext>
            </a:extLst>
          </p:cNvPr>
          <p:cNvSpPr>
            <a:spLocks noGrp="1"/>
          </p:cNvSpPr>
          <p:nvPr>
            <p:ph type="title"/>
          </p:nvPr>
        </p:nvSpPr>
        <p:spPr/>
        <p:txBody>
          <a:bodyPr/>
          <a:lstStyle/>
          <a:p>
            <a:pPr algn="ctr"/>
            <a:r>
              <a:rPr lang="en-US" b="1" dirty="0">
                <a:latin typeface="Times New Roman" panose="02020603050405020304" pitchFamily="18" charset="0"/>
                <a:cs typeface="Times New Roman" pitchFamily="18" charset="0"/>
              </a:rPr>
              <a:t>Methodology</a:t>
            </a:r>
          </a:p>
        </p:txBody>
      </p:sp>
      <p:sp>
        <p:nvSpPr>
          <p:cNvPr id="3" name="Content Placeholder 2">
            <a:extLst>
              <a:ext uri="{FF2B5EF4-FFF2-40B4-BE49-F238E27FC236}">
                <a16:creationId xmlns:a16="http://schemas.microsoft.com/office/drawing/2014/main" id="{A3352372-6E18-9F0F-1D67-319EF06BC892}"/>
              </a:ext>
            </a:extLst>
          </p:cNvPr>
          <p:cNvSpPr>
            <a:spLocks noGrp="1"/>
          </p:cNvSpPr>
          <p:nvPr>
            <p:ph idx="1"/>
          </p:nvPr>
        </p:nvSpPr>
        <p:spPr>
          <a:xfrm>
            <a:off x="838200" y="1449705"/>
            <a:ext cx="10515600" cy="4351338"/>
          </a:xfrm>
        </p:spPr>
        <p:txBody>
          <a:bodyPr/>
          <a:lstStyle/>
          <a:p>
            <a:pPr marL="0" indent="0">
              <a:buNone/>
            </a:pPr>
            <a:r>
              <a:rPr lang="en-US" sz="1800" b="1" dirty="0">
                <a:latin typeface="Times New Roman" panose="02020603050405020304" pitchFamily="18" charset="0"/>
                <a:cs typeface="Times New Roman" panose="02020603050405020304" pitchFamily="18" charset="0"/>
              </a:rPr>
              <a:t>4. Decision Making</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Traffic signal control decisions are made using two approaches:</a:t>
            </a:r>
          </a:p>
          <a:p>
            <a:r>
              <a:rPr lang="en-US" sz="1800" b="1" dirty="0">
                <a:latin typeface="Times New Roman" panose="02020603050405020304" pitchFamily="18" charset="0"/>
                <a:cs typeface="Times New Roman" panose="02020603050405020304" pitchFamily="18" charset="0"/>
              </a:rPr>
              <a:t>Mathematical Predictive Model</a:t>
            </a:r>
            <a:r>
              <a:rPr lang="en-US" sz="1800" dirty="0">
                <a:latin typeface="Times New Roman" panose="02020603050405020304" pitchFamily="18" charset="0"/>
                <a:cs typeface="Times New Roman" panose="02020603050405020304" pitchFamily="18" charset="0"/>
              </a:rPr>
              <a:t> based on queue length and waiting time.</a:t>
            </a:r>
          </a:p>
          <a:p>
            <a:r>
              <a:rPr lang="en-US" sz="1800" b="1" dirty="0">
                <a:latin typeface="Times New Roman" panose="02020603050405020304" pitchFamily="18" charset="0"/>
                <a:cs typeface="Times New Roman" panose="02020603050405020304" pitchFamily="18" charset="0"/>
              </a:rPr>
              <a:t>Deep Reinforcement Learning Agent</a:t>
            </a:r>
            <a:r>
              <a:rPr lang="en-US" sz="1800" dirty="0">
                <a:latin typeface="Times New Roman" panose="02020603050405020304" pitchFamily="18" charset="0"/>
                <a:cs typeface="Times New Roman" panose="02020603050405020304" pitchFamily="18" charset="0"/>
              </a:rPr>
              <a:t> using a Deep Q Network.</a:t>
            </a:r>
          </a:p>
          <a:p>
            <a:pPr marL="0" indent="0">
              <a:buNone/>
            </a:pPr>
            <a:r>
              <a:rPr lang="en-US" sz="1800" b="1" dirty="0">
                <a:latin typeface="Times New Roman" panose="02020603050405020304" pitchFamily="18" charset="0"/>
                <a:cs typeface="Times New Roman" panose="02020603050405020304" pitchFamily="18" charset="0"/>
              </a:rPr>
              <a:t>5. Safety and Signal Control</a:t>
            </a:r>
          </a:p>
          <a:p>
            <a:r>
              <a:rPr lang="en-US" sz="1800" dirty="0">
                <a:latin typeface="Times New Roman" panose="02020603050405020304" pitchFamily="18" charset="0"/>
                <a:cs typeface="Times New Roman" panose="02020603050405020304" pitchFamily="18" charset="0"/>
              </a:rPr>
              <a:t>A hybrid safety controller ensures fairness by preventing excessive waiting time and maintaining stable traffic flow.</a:t>
            </a:r>
          </a:p>
          <a:p>
            <a:pPr marL="0" indent="0">
              <a:buNone/>
            </a:pPr>
            <a:r>
              <a:rPr lang="en-US" sz="1800" b="1" dirty="0">
                <a:latin typeface="Times New Roman" panose="02020603050405020304" pitchFamily="18" charset="0"/>
                <a:cs typeface="Times New Roman" panose="02020603050405020304" pitchFamily="18" charset="0"/>
              </a:rPr>
              <a:t>6. Performance Evaluation</a:t>
            </a:r>
          </a:p>
          <a:p>
            <a:pPr marL="0" indent="0">
              <a:buNone/>
            </a:pPr>
            <a:r>
              <a:rPr lang="en-US" sz="1800" dirty="0">
                <a:latin typeface="Times New Roman" panose="02020603050405020304" pitchFamily="18" charset="0"/>
                <a:cs typeface="Times New Roman" panose="02020603050405020304" pitchFamily="18" charset="0"/>
              </a:rPr>
              <a:t>The system evaluates traffic efficiency using performance metrics such as:</a:t>
            </a:r>
          </a:p>
          <a:p>
            <a:r>
              <a:rPr lang="en-US" sz="1800" dirty="0">
                <a:latin typeface="Times New Roman" panose="02020603050405020304" pitchFamily="18" charset="0"/>
                <a:cs typeface="Times New Roman" panose="02020603050405020304" pitchFamily="18" charset="0"/>
              </a:rPr>
              <a:t>Average Waiting Time</a:t>
            </a:r>
          </a:p>
          <a:p>
            <a:r>
              <a:rPr lang="en-US" sz="1800" dirty="0">
                <a:latin typeface="Times New Roman" panose="02020603050405020304" pitchFamily="18" charset="0"/>
                <a:cs typeface="Times New Roman" panose="02020603050405020304" pitchFamily="18" charset="0"/>
              </a:rPr>
              <a:t>Maximum Waiting Time</a:t>
            </a:r>
          </a:p>
          <a:p>
            <a:r>
              <a:rPr lang="en-US" sz="1800" dirty="0">
                <a:latin typeface="Times New Roman" panose="02020603050405020304" pitchFamily="18" charset="0"/>
                <a:cs typeface="Times New Roman" panose="02020603050405020304" pitchFamily="18" charset="0"/>
              </a:rPr>
              <a:t>Throughput</a:t>
            </a:r>
          </a:p>
          <a:p>
            <a:r>
              <a:rPr lang="en-US" sz="1800" dirty="0">
                <a:latin typeface="Times New Roman" panose="02020603050405020304" pitchFamily="18" charset="0"/>
                <a:cs typeface="Times New Roman" panose="02020603050405020304" pitchFamily="18" charset="0"/>
              </a:rPr>
              <a:t>Average Queue Length</a:t>
            </a:r>
          </a:p>
          <a:p>
            <a:pPr marL="0" indent="0">
              <a:buNone/>
            </a:pPr>
            <a:r>
              <a:rPr lang="en-US" sz="1800" dirty="0">
                <a:latin typeface="Times New Roman" panose="02020603050405020304" pitchFamily="18" charset="0"/>
                <a:cs typeface="Times New Roman" panose="02020603050405020304" pitchFamily="18" charset="0"/>
              </a:rPr>
              <a:t>        The results from both models are compared using a </a:t>
            </a:r>
            <a:r>
              <a:rPr lang="en-US" sz="1800" b="1" dirty="0">
                <a:latin typeface="Times New Roman" panose="02020603050405020304" pitchFamily="18" charset="0"/>
                <a:cs typeface="Times New Roman" panose="02020603050405020304" pitchFamily="18" charset="0"/>
              </a:rPr>
              <a:t>performance dashboard</a:t>
            </a:r>
            <a:r>
              <a:rPr lang="en-US" sz="1800" dirty="0">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CB1DECF7-0136-628F-E8C5-D4DFCDA46448}"/>
              </a:ext>
            </a:extLst>
          </p:cNvPr>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9520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08368-0484-3A44-CA46-BFD92EB8E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9DA86-6D1B-F0E2-C81B-0409A26842AA}"/>
              </a:ext>
            </a:extLst>
          </p:cNvPr>
          <p:cNvSpPr>
            <a:spLocks noGrp="1"/>
          </p:cNvSpPr>
          <p:nvPr>
            <p:ph type="title"/>
          </p:nvPr>
        </p:nvSpPr>
        <p:spPr/>
        <p:txBody>
          <a:bodyPr/>
          <a:lstStyle/>
          <a:p>
            <a:pPr algn="ctr"/>
            <a:r>
              <a:rPr lang="en-US" b="1" dirty="0">
                <a:latin typeface="Times New Roman" panose="02020603050405020304" pitchFamily="18" charset="0"/>
                <a:cs typeface="Times New Roman" pitchFamily="18" charset="0"/>
              </a:rPr>
              <a:t>Results</a:t>
            </a:r>
          </a:p>
        </p:txBody>
      </p:sp>
      <p:pic>
        <p:nvPicPr>
          <p:cNvPr id="8" name="Content Placeholder 7">
            <a:extLst>
              <a:ext uri="{FF2B5EF4-FFF2-40B4-BE49-F238E27FC236}">
                <a16:creationId xmlns:a16="http://schemas.microsoft.com/office/drawing/2014/main" id="{F6DC2FD6-8E22-AD6E-C772-452FEFF7AAC2}"/>
              </a:ext>
            </a:extLst>
          </p:cNvPr>
          <p:cNvPicPr>
            <a:picLocks noGrp="1" noChangeAspect="1"/>
          </p:cNvPicPr>
          <p:nvPr>
            <p:ph idx="1"/>
          </p:nvPr>
        </p:nvPicPr>
        <p:blipFill>
          <a:blip r:embed="rId2"/>
          <a:stretch>
            <a:fillRect/>
          </a:stretch>
        </p:blipFill>
        <p:spPr bwMode="auto">
          <a:xfrm>
            <a:off x="6012835" y="1467168"/>
            <a:ext cx="5967374" cy="4080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8EB7857C-3E6A-40E7-4E8E-7C94CEF9CD48}"/>
              </a:ext>
            </a:extLst>
          </p:cNvPr>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2A6BDC5E-D54A-E62C-01C1-D29EC316209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75" y="5691188"/>
            <a:ext cx="228917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89425240-1864-C94F-2F56-B196E5332CDA}"/>
              </a:ext>
            </a:extLst>
          </p:cNvPr>
          <p:cNvSpPr txBox="1"/>
          <p:nvPr/>
        </p:nvSpPr>
        <p:spPr>
          <a:xfrm>
            <a:off x="707571" y="1774371"/>
            <a:ext cx="4452258" cy="424731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Simulation Results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evaluates the performance of two traffic control approaches:</a:t>
            </a:r>
          </a:p>
          <a:p>
            <a:pPr marL="742950" lvl="1" indent="-285750">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Mathematical Predictive Model</a:t>
            </a:r>
            <a:endParaRPr lang="en-US" dirty="0">
              <a:latin typeface="Times New Roman" panose="02020603050405020304" pitchFamily="18" charset="0"/>
              <a:cs typeface="Times New Roman" panose="02020603050405020304" pitchFamily="18" charset="0"/>
            </a:endParaRPr>
          </a:p>
          <a:p>
            <a:pPr marL="742950" lvl="1" indent="-285750">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Deep Reinforcement Learning (DRL) Model</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Both models were tested under </a:t>
            </a:r>
            <a:r>
              <a:rPr lang="en-US" b="1" dirty="0">
                <a:latin typeface="Times New Roman" panose="02020603050405020304" pitchFamily="18" charset="0"/>
                <a:cs typeface="Times New Roman" panose="02020603050405020304" pitchFamily="18" charset="0"/>
              </a:rPr>
              <a:t>identical traffic conditions</a:t>
            </a:r>
            <a:r>
              <a:rPr lang="en-US" dirty="0">
                <a:latin typeface="Times New Roman" panose="02020603050405020304" pitchFamily="18" charset="0"/>
                <a:cs typeface="Times New Roman" panose="02020603050405020304" pitchFamily="18" charset="0"/>
              </a:rPr>
              <a:t> using the </a:t>
            </a:r>
            <a:r>
              <a:rPr lang="en-US" b="1" dirty="0">
                <a:latin typeface="Times New Roman" panose="02020603050405020304" pitchFamily="18" charset="0"/>
                <a:cs typeface="Times New Roman" panose="02020603050405020304" pitchFamily="18" charset="0"/>
              </a:rPr>
              <a:t>Balanced traffic scenario</a:t>
            </a:r>
            <a:r>
              <a:rPr lang="en-US"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model was executed for </a:t>
            </a:r>
            <a:r>
              <a:rPr lang="en-US" b="1" dirty="0">
                <a:latin typeface="Times New Roman" panose="02020603050405020304" pitchFamily="18" charset="0"/>
                <a:cs typeface="Times New Roman" panose="02020603050405020304" pitchFamily="18" charset="0"/>
              </a:rPr>
              <a:t>60 seconds</a:t>
            </a:r>
            <a:r>
              <a:rPr lang="en-US" dirty="0">
                <a:latin typeface="Times New Roman" panose="02020603050405020304" pitchFamily="18" charset="0"/>
                <a:cs typeface="Times New Roman" panose="02020603050405020304" pitchFamily="18" charset="0"/>
              </a:rPr>
              <a:t>, and the system recorded multiple traffic performance metrics.</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22A84E93-07EB-2565-A85D-5D8BE279E041}"/>
              </a:ext>
            </a:extLst>
          </p:cNvPr>
          <p:cNvSpPr txBox="1"/>
          <p:nvPr/>
        </p:nvSpPr>
        <p:spPr>
          <a:xfrm>
            <a:off x="6012835" y="5615582"/>
            <a:ext cx="6096000" cy="923330"/>
          </a:xfrm>
          <a:prstGeom prst="rect">
            <a:avLst/>
          </a:prstGeom>
          <a:noFill/>
        </p:spPr>
        <p:txBody>
          <a:bodyPr wrap="square">
            <a:spAutoFit/>
          </a:bodyPr>
          <a:lstStyle/>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Project Landing Screen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screen shows the </a:t>
            </a:r>
            <a:r>
              <a:rPr lang="en-US" b="1" dirty="0" err="1">
                <a:latin typeface="Times New Roman" panose="02020603050405020304" pitchFamily="18" charset="0"/>
                <a:cs typeface="Times New Roman" panose="02020603050405020304" pitchFamily="18" charset="0"/>
              </a:rPr>
              <a:t>SignalSync</a:t>
            </a:r>
            <a:r>
              <a:rPr lang="en-US" b="1" dirty="0">
                <a:latin typeface="Times New Roman" panose="02020603050405020304" pitchFamily="18" charset="0"/>
                <a:cs typeface="Times New Roman" panose="02020603050405020304" pitchFamily="18" charset="0"/>
              </a:rPr>
              <a:t> system interface where the traffic simulation starts.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4112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0BE70-45C2-BFD4-8A8D-D9493C2789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67162-AB7F-43AC-6E6F-A241C0CC38CE}"/>
              </a:ext>
            </a:extLst>
          </p:cNvPr>
          <p:cNvSpPr>
            <a:spLocks noGrp="1"/>
          </p:cNvSpPr>
          <p:nvPr>
            <p:ph type="title"/>
          </p:nvPr>
        </p:nvSpPr>
        <p:spPr/>
        <p:txBody>
          <a:bodyPr/>
          <a:lstStyle/>
          <a:p>
            <a:pPr algn="ctr"/>
            <a:r>
              <a:rPr lang="en-US" b="1" dirty="0">
                <a:latin typeface="Times New Roman" panose="02020603050405020304" pitchFamily="18" charset="0"/>
                <a:cs typeface="Times New Roman" pitchFamily="18" charset="0"/>
              </a:rPr>
              <a:t>Results</a:t>
            </a:r>
          </a:p>
        </p:txBody>
      </p:sp>
      <p:pic>
        <p:nvPicPr>
          <p:cNvPr id="13" name="Content Placeholder 12">
            <a:extLst>
              <a:ext uri="{FF2B5EF4-FFF2-40B4-BE49-F238E27FC236}">
                <a16:creationId xmlns:a16="http://schemas.microsoft.com/office/drawing/2014/main" id="{B85DCC48-2F0D-2DEA-5A04-5D3F64E9DA5C}"/>
              </a:ext>
            </a:extLst>
          </p:cNvPr>
          <p:cNvPicPr>
            <a:picLocks noGrp="1" noChangeAspect="1"/>
          </p:cNvPicPr>
          <p:nvPr>
            <p:ph sz="half" idx="1"/>
          </p:nvPr>
        </p:nvPicPr>
        <p:blipFill>
          <a:blip r:embed="rId2"/>
          <a:stretch>
            <a:fillRect/>
          </a:stretch>
        </p:blipFill>
        <p:spPr bwMode="auto">
          <a:xfrm>
            <a:off x="751115" y="1590136"/>
            <a:ext cx="5181600" cy="3536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Content Placeholder 15">
            <a:extLst>
              <a:ext uri="{FF2B5EF4-FFF2-40B4-BE49-F238E27FC236}">
                <a16:creationId xmlns:a16="http://schemas.microsoft.com/office/drawing/2014/main" id="{AE357C8C-1991-6B54-777D-4CC94998B872}"/>
              </a:ext>
            </a:extLst>
          </p:cNvPr>
          <p:cNvPicPr>
            <a:picLocks noGrp="1" noChangeAspect="1"/>
          </p:cNvPicPr>
          <p:nvPr>
            <p:ph sz="half" idx="2"/>
          </p:nvPr>
        </p:nvPicPr>
        <p:blipFill>
          <a:blip r:embed="rId3"/>
          <a:stretch>
            <a:fillRect/>
          </a:stretch>
        </p:blipFill>
        <p:spPr bwMode="auto">
          <a:xfrm>
            <a:off x="6259285" y="1590136"/>
            <a:ext cx="5181600" cy="356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BEC2F99A-7974-C0E7-D3A2-ABD237381F6A}"/>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B08E8141-3F05-E478-3963-FBFF918B64C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6268719"/>
            <a:ext cx="1717040" cy="584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a:extLst>
              <a:ext uri="{FF2B5EF4-FFF2-40B4-BE49-F238E27FC236}">
                <a16:creationId xmlns:a16="http://schemas.microsoft.com/office/drawing/2014/main" id="{46BEF336-1F28-CF4F-00D7-F542067D01B1}"/>
              </a:ext>
            </a:extLst>
          </p:cNvPr>
          <p:cNvSpPr txBox="1"/>
          <p:nvPr/>
        </p:nvSpPr>
        <p:spPr>
          <a:xfrm>
            <a:off x="674915" y="5258161"/>
            <a:ext cx="5421085" cy="1200329"/>
          </a:xfrm>
          <a:prstGeom prst="rect">
            <a:avLst/>
          </a:prstGeom>
          <a:noFill/>
        </p:spPr>
        <p:txBody>
          <a:bodyPr wrap="square" rtlCol="0">
            <a:spAutoFit/>
          </a:bodyPr>
          <a:lstStyle/>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Mathematical Model Simulation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image shows the </a:t>
            </a:r>
            <a:r>
              <a:rPr lang="en-US" b="1" dirty="0">
                <a:latin typeface="Times New Roman" panose="02020603050405020304" pitchFamily="18" charset="0"/>
                <a:cs typeface="Times New Roman" panose="02020603050405020304" pitchFamily="18" charset="0"/>
              </a:rPr>
              <a:t>traffic simulation running with the mathematical traffic control model managing the signals.</a:t>
            </a:r>
            <a:endParaRPr lang="en-US"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568C45AC-D379-283F-C134-EA8F83B65BB9}"/>
              </a:ext>
            </a:extLst>
          </p:cNvPr>
          <p:cNvSpPr txBox="1"/>
          <p:nvPr/>
        </p:nvSpPr>
        <p:spPr>
          <a:xfrm>
            <a:off x="6139542" y="5180406"/>
            <a:ext cx="5421085" cy="1200329"/>
          </a:xfrm>
          <a:prstGeom prst="rect">
            <a:avLst/>
          </a:prstGeom>
          <a:noFill/>
        </p:spPr>
        <p:txBody>
          <a:bodyPr wrap="square" rtlCol="0">
            <a:spAutoFit/>
          </a:bodyPr>
          <a:lstStyle/>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DRL Model Simulation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image shows the </a:t>
            </a:r>
            <a:r>
              <a:rPr lang="en-US" b="1" dirty="0">
                <a:latin typeface="Times New Roman" panose="02020603050405020304" pitchFamily="18" charset="0"/>
                <a:cs typeface="Times New Roman" panose="02020603050405020304" pitchFamily="18" charset="0"/>
              </a:rPr>
              <a:t>traffic simulation controlled by the Deep Reinforcement Learning (DRL) agent.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8814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71610-AC02-7CF7-3812-D69619F1B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F839E3-F94A-1A1A-7066-C182061A45C3}"/>
              </a:ext>
            </a:extLst>
          </p:cNvPr>
          <p:cNvSpPr>
            <a:spLocks noGrp="1"/>
          </p:cNvSpPr>
          <p:nvPr>
            <p:ph type="title"/>
          </p:nvPr>
        </p:nvSpPr>
        <p:spPr>
          <a:xfrm>
            <a:off x="838200" y="280669"/>
            <a:ext cx="10515600" cy="1325563"/>
          </a:xfrm>
        </p:spPr>
        <p:txBody>
          <a:bodyPr/>
          <a:lstStyle/>
          <a:p>
            <a:pPr algn="ctr"/>
            <a:r>
              <a:rPr lang="en-US" b="1" dirty="0">
                <a:latin typeface="Times New Roman" panose="02020603050405020304" pitchFamily="18" charset="0"/>
                <a:cs typeface="Times New Roman" pitchFamily="18" charset="0"/>
              </a:rPr>
              <a:t>Results</a:t>
            </a:r>
          </a:p>
        </p:txBody>
      </p:sp>
      <p:sp>
        <p:nvSpPr>
          <p:cNvPr id="4" name="Footer Placeholder 3">
            <a:extLst>
              <a:ext uri="{FF2B5EF4-FFF2-40B4-BE49-F238E27FC236}">
                <a16:creationId xmlns:a16="http://schemas.microsoft.com/office/drawing/2014/main" id="{32ECA322-86CD-4C07-AB9E-031D3B07BADE}"/>
              </a:ext>
            </a:extLst>
          </p:cNvPr>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4F672F77-1EDC-D876-F0B2-B0D2F031ED3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5691188"/>
            <a:ext cx="228917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99BFFFB7-6EE8-9286-E909-7FD23526559B}"/>
              </a:ext>
            </a:extLst>
          </p:cNvPr>
          <p:cNvSpPr txBox="1"/>
          <p:nvPr/>
        </p:nvSpPr>
        <p:spPr>
          <a:xfrm>
            <a:off x="180975" y="1825555"/>
            <a:ext cx="4301664" cy="369331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Performance Metrics Used</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following metrics were used to evaluate the efficiency of each model:</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Average Waiting Time</a:t>
            </a:r>
            <a:r>
              <a:rPr lang="en-US" dirty="0">
                <a:latin typeface="Times New Roman" panose="02020603050405020304" pitchFamily="18" charset="0"/>
                <a:cs typeface="Times New Roman" panose="02020603050405020304" pitchFamily="18" charset="0"/>
              </a:rPr>
              <a:t> – Average time vehicles wait at signals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Maximum Waiting Time</a:t>
            </a:r>
            <a:r>
              <a:rPr lang="en-US" dirty="0">
                <a:latin typeface="Times New Roman" panose="02020603050405020304" pitchFamily="18" charset="0"/>
                <a:cs typeface="Times New Roman" panose="02020603050405020304" pitchFamily="18" charset="0"/>
              </a:rPr>
              <a:t> – Longest waiting time experienced by any vehicle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Throughput</a:t>
            </a:r>
            <a:r>
              <a:rPr lang="en-US" dirty="0">
                <a:latin typeface="Times New Roman" panose="02020603050405020304" pitchFamily="18" charset="0"/>
                <a:cs typeface="Times New Roman" panose="02020603050405020304" pitchFamily="18" charset="0"/>
              </a:rPr>
              <a:t> – Total number of vehicles passing the intersection</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Average Queue Length</a:t>
            </a:r>
            <a:r>
              <a:rPr lang="en-US" dirty="0">
                <a:latin typeface="Times New Roman" panose="02020603050405020304" pitchFamily="18" charset="0"/>
                <a:cs typeface="Times New Roman" panose="02020603050405020304" pitchFamily="18" charset="0"/>
              </a:rPr>
              <a:t> – Average number of vehicles waiting at signals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9A8FAB1-95F9-15C9-C928-C71617645F9D}"/>
              </a:ext>
            </a:extLst>
          </p:cNvPr>
          <p:cNvPicPr>
            <a:picLocks noChangeAspect="1"/>
          </p:cNvPicPr>
          <p:nvPr/>
        </p:nvPicPr>
        <p:blipFill>
          <a:blip r:embed="rId3"/>
          <a:stretch>
            <a:fillRect/>
          </a:stretch>
        </p:blipFill>
        <p:spPr>
          <a:xfrm>
            <a:off x="4399635" y="1401623"/>
            <a:ext cx="7507963" cy="4978718"/>
          </a:xfrm>
          <a:prstGeom prst="rect">
            <a:avLst/>
          </a:prstGeom>
        </p:spPr>
      </p:pic>
    </p:spTree>
    <p:extLst>
      <p:ext uri="{BB962C8B-B14F-4D97-AF65-F5344CB8AC3E}">
        <p14:creationId xmlns:p14="http://schemas.microsoft.com/office/powerpoint/2010/main" val="659820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E2DC1-DF1E-969E-6E1A-7B9ABDAD5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2B6BB-D671-2A76-9749-EEB998A7130E}"/>
              </a:ext>
            </a:extLst>
          </p:cNvPr>
          <p:cNvSpPr>
            <a:spLocks noGrp="1"/>
          </p:cNvSpPr>
          <p:nvPr>
            <p:ph type="title"/>
          </p:nvPr>
        </p:nvSpPr>
        <p:spPr/>
        <p:txBody>
          <a:bodyPr/>
          <a:lstStyle/>
          <a:p>
            <a:pPr algn="ctr"/>
            <a:r>
              <a:rPr lang="en-US" b="1" dirty="0">
                <a:latin typeface="Times New Roman" panose="02020603050405020304" pitchFamily="18" charset="0"/>
                <a:cs typeface="Times New Roman" pitchFamily="18" charset="0"/>
              </a:rPr>
              <a:t>Conclusion</a:t>
            </a:r>
          </a:p>
        </p:txBody>
      </p:sp>
      <p:sp>
        <p:nvSpPr>
          <p:cNvPr id="3" name="Content Placeholder 2">
            <a:extLst>
              <a:ext uri="{FF2B5EF4-FFF2-40B4-BE49-F238E27FC236}">
                <a16:creationId xmlns:a16="http://schemas.microsoft.com/office/drawing/2014/main" id="{06601570-2528-3831-1FA9-3B1785B342B8}"/>
              </a:ext>
            </a:extLst>
          </p:cNvPr>
          <p:cNvSpPr>
            <a:spLocks noGrp="1"/>
          </p:cNvSpPr>
          <p:nvPr>
            <p:ph idx="1"/>
          </p:nvPr>
        </p:nvSpPr>
        <p:spPr>
          <a:xfrm>
            <a:off x="960120" y="1515269"/>
            <a:ext cx="10515600" cy="4351338"/>
          </a:xfrm>
        </p:spPr>
        <p:txBody>
          <a:bodyPr/>
          <a:lstStyle/>
          <a:p>
            <a:pPr marL="0" indent="0">
              <a:buNone/>
            </a:pPr>
            <a:r>
              <a:rPr lang="en-US" sz="2000" dirty="0">
                <a:latin typeface="Times New Roman" panose="02020603050405020304" pitchFamily="18" charset="0"/>
                <a:cs typeface="Times New Roman" panose="02020603050405020304" pitchFamily="18" charset="0"/>
              </a:rPr>
              <a:t>Our project successfully developed a smart traffic signal control system for a four-way intersection that compares a Mathematical predictive model and a Deep Reinforcement Learning agent under the same simulation conditions. Based on the evaluated metrics, the Mathematical model performed better in the current experiment by achieving lower waiting time, lower queue length, and higher throughput. The project also demonstrated the importance of combining intelligent decision-making with a hybrid safety controller to ensure fairness and prevent traffic starvation.</a:t>
            </a:r>
          </a:p>
          <a:p>
            <a:pPr marL="0" indent="0">
              <a:buNone/>
            </a:pPr>
            <a:r>
              <a:rPr lang="en-US" sz="2000" dirty="0">
                <a:latin typeface="Times New Roman" panose="02020603050405020304" pitchFamily="18" charset="0"/>
                <a:cs typeface="Times New Roman" panose="02020603050405020304" pitchFamily="18" charset="0"/>
              </a:rPr>
              <a:t>Key takeaways</a:t>
            </a:r>
          </a:p>
          <a:p>
            <a:r>
              <a:rPr lang="en-US" sz="2000" dirty="0">
                <a:latin typeface="Times New Roman" panose="02020603050405020304" pitchFamily="18" charset="0"/>
                <a:cs typeface="Times New Roman" panose="02020603050405020304" pitchFamily="18" charset="0"/>
              </a:rPr>
              <a:t>A full traffic control system must include simulation, decision-making, safety control, and performance evaluation.</a:t>
            </a:r>
          </a:p>
          <a:p>
            <a:r>
              <a:rPr lang="en-US" sz="2000" dirty="0">
                <a:latin typeface="Times New Roman" panose="02020603050405020304" pitchFamily="18" charset="0"/>
                <a:cs typeface="Times New Roman" panose="02020603050405020304" pitchFamily="18" charset="0"/>
              </a:rPr>
              <a:t>Rule-based mathematical control can still outperform DRL when the DRL agent is not fully optimized or sufficiently trained.</a:t>
            </a:r>
          </a:p>
          <a:p>
            <a:r>
              <a:rPr lang="en-US" sz="2000" dirty="0">
                <a:latin typeface="Times New Roman" panose="02020603050405020304" pitchFamily="18" charset="0"/>
                <a:cs typeface="Times New Roman" panose="02020603050405020304" pitchFamily="18" charset="0"/>
              </a:rPr>
              <a:t>DRL remains a promising approach for future adaptive traffic management in more dynamic environments.</a:t>
            </a:r>
          </a:p>
          <a:p>
            <a:endParaRPr lang="en-US"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6E1B2D2-6F00-04A3-2798-BC13CD51B16F}"/>
              </a:ext>
            </a:extLst>
          </p:cNvPr>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A68139B1-B9E6-7DF2-0BE7-18BEBF0606B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5691188"/>
            <a:ext cx="228917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8337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9D25A-6B32-0477-DF92-89E66F8A62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2C2FC-5309-619E-1398-C17759E8614A}"/>
              </a:ext>
            </a:extLst>
          </p:cNvPr>
          <p:cNvSpPr>
            <a:spLocks noGrp="1"/>
          </p:cNvSpPr>
          <p:nvPr>
            <p:ph type="title"/>
          </p:nvPr>
        </p:nvSpPr>
        <p:spPr>
          <a:xfrm>
            <a:off x="838200" y="225902"/>
            <a:ext cx="10515600" cy="1325563"/>
          </a:xfrm>
        </p:spPr>
        <p:txBody>
          <a:bodyPr/>
          <a:lstStyle/>
          <a:p>
            <a:pPr algn="ctr"/>
            <a:r>
              <a:rPr lang="en-US" b="1" dirty="0">
                <a:latin typeface="Times New Roman" panose="02020603050405020304" pitchFamily="18" charset="0"/>
                <a:cs typeface="Times New Roman" pitchFamily="18" charset="0"/>
              </a:rPr>
              <a:t>Future scope</a:t>
            </a:r>
          </a:p>
        </p:txBody>
      </p:sp>
      <p:sp>
        <p:nvSpPr>
          <p:cNvPr id="3" name="Content Placeholder 2">
            <a:extLst>
              <a:ext uri="{FF2B5EF4-FFF2-40B4-BE49-F238E27FC236}">
                <a16:creationId xmlns:a16="http://schemas.microsoft.com/office/drawing/2014/main" id="{857A53CB-8C25-1FC6-09FC-79D9EBA66C24}"/>
              </a:ext>
            </a:extLst>
          </p:cNvPr>
          <p:cNvSpPr>
            <a:spLocks noGrp="1"/>
          </p:cNvSpPr>
          <p:nvPr>
            <p:ph idx="1"/>
          </p:nvPr>
        </p:nvSpPr>
        <p:spPr>
          <a:xfrm>
            <a:off x="960120" y="1332389"/>
            <a:ext cx="10515600" cy="4351338"/>
          </a:xfrm>
        </p:spPr>
        <p:txBody>
          <a:bodyPr/>
          <a:lstStyle/>
          <a:p>
            <a:r>
              <a:rPr lang="en-US" sz="1600" dirty="0">
                <a:latin typeface="Times New Roman" panose="02020603050405020304" pitchFamily="18" charset="0"/>
                <a:cs typeface="Times New Roman" panose="02020603050405020304" pitchFamily="18" charset="0"/>
              </a:rPr>
              <a:t>The proposed smart traffic control system can be further improved and expanded in several ways to enhance its performance and real‑world applicability.</a:t>
            </a:r>
          </a:p>
          <a:p>
            <a:r>
              <a:rPr lang="en-US" sz="1600" b="1" dirty="0">
                <a:latin typeface="Times New Roman" panose="02020603050405020304" pitchFamily="18" charset="0"/>
                <a:cs typeface="Times New Roman" panose="02020603050405020304" pitchFamily="18" charset="0"/>
              </a:rPr>
              <a:t>Improved DRL Training:</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Deep Reinforcement Learning model can be trained with larger datasets and longer training episodes to achieve better decision‑making and traffic optimization.</a:t>
            </a:r>
          </a:p>
          <a:p>
            <a:r>
              <a:rPr lang="en-US" sz="1600" b="1" dirty="0">
                <a:latin typeface="Times New Roman" panose="02020603050405020304" pitchFamily="18" charset="0"/>
                <a:cs typeface="Times New Roman" panose="02020603050405020304" pitchFamily="18" charset="0"/>
              </a:rPr>
              <a:t>Real‑Time Traffic Data Integration: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system can be connected with real‑time traffic sensors, cameras, or IoT devices to obtain live traffic data and dynamically adjust signal timings.</a:t>
            </a:r>
          </a:p>
          <a:p>
            <a:r>
              <a:rPr lang="en-US" sz="1600" b="1" dirty="0">
                <a:latin typeface="Times New Roman" panose="02020603050405020304" pitchFamily="18" charset="0"/>
                <a:cs typeface="Times New Roman" panose="02020603050405020304" pitchFamily="18" charset="0"/>
              </a:rPr>
              <a:t>Multi‑Intersection Traffic Management: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model can be extended to manage </a:t>
            </a:r>
            <a:r>
              <a:rPr lang="en-US" sz="1600" b="1" dirty="0">
                <a:latin typeface="Times New Roman" panose="02020603050405020304" pitchFamily="18" charset="0"/>
                <a:cs typeface="Times New Roman" panose="02020603050405020304" pitchFamily="18" charset="0"/>
              </a:rPr>
              <a:t>multiple connected intersections</a:t>
            </a:r>
            <a:r>
              <a:rPr lang="en-US" sz="1600" dirty="0">
                <a:latin typeface="Times New Roman" panose="02020603050405020304" pitchFamily="18" charset="0"/>
                <a:cs typeface="Times New Roman" panose="02020603050405020304" pitchFamily="18" charset="0"/>
              </a:rPr>
              <a:t>, enabling coordinated traffic signal control across an entire road network.</a:t>
            </a:r>
          </a:p>
          <a:p>
            <a:r>
              <a:rPr lang="en-US" sz="1600" b="1" dirty="0">
                <a:latin typeface="Times New Roman" panose="02020603050405020304" pitchFamily="18" charset="0"/>
                <a:cs typeface="Times New Roman" panose="02020603050405020304" pitchFamily="18" charset="0"/>
              </a:rPr>
              <a:t>Emergency Vehicle Priority:</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Future versions can include priority mechanisms for </a:t>
            </a:r>
            <a:r>
              <a:rPr lang="en-US" sz="1600" b="1" dirty="0">
                <a:latin typeface="Times New Roman" panose="02020603050405020304" pitchFamily="18" charset="0"/>
                <a:cs typeface="Times New Roman" panose="02020603050405020304" pitchFamily="18" charset="0"/>
              </a:rPr>
              <a:t>ambulances, fire trucks, and emergency vehicles</a:t>
            </a:r>
            <a:r>
              <a:rPr lang="en-US" sz="1600" dirty="0">
                <a:latin typeface="Times New Roman" panose="02020603050405020304" pitchFamily="18" charset="0"/>
                <a:cs typeface="Times New Roman" panose="02020603050405020304" pitchFamily="18" charset="0"/>
              </a:rPr>
              <a:t> to reduce response time.</a:t>
            </a:r>
          </a:p>
          <a:p>
            <a:r>
              <a:rPr lang="en-US" sz="1600" b="1" dirty="0">
                <a:latin typeface="Times New Roman" panose="02020603050405020304" pitchFamily="18" charset="0"/>
                <a:cs typeface="Times New Roman" panose="02020603050405020304" pitchFamily="18" charset="0"/>
              </a:rPr>
              <a:t>Smart City Integration: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system can be integrated with </a:t>
            </a:r>
            <a:r>
              <a:rPr lang="en-US" sz="1600" b="1" dirty="0">
                <a:latin typeface="Times New Roman" panose="02020603050405020304" pitchFamily="18" charset="0"/>
                <a:cs typeface="Times New Roman" panose="02020603050405020304" pitchFamily="18" charset="0"/>
              </a:rPr>
              <a:t>smart city transportation infrastructure</a:t>
            </a:r>
            <a:r>
              <a:rPr lang="en-US" sz="1600" dirty="0">
                <a:latin typeface="Times New Roman" panose="02020603050405020304" pitchFamily="18" charset="0"/>
                <a:cs typeface="Times New Roman" panose="02020603050405020304" pitchFamily="18" charset="0"/>
              </a:rPr>
              <a:t> to support intelligent traffic monitoring and urban mobility planning.</a:t>
            </a:r>
          </a:p>
          <a:p>
            <a:r>
              <a:rPr lang="en-US" sz="1600" b="1" dirty="0">
                <a:latin typeface="Times New Roman" panose="02020603050405020304" pitchFamily="18" charset="0"/>
                <a:cs typeface="Times New Roman" panose="02020603050405020304" pitchFamily="18" charset="0"/>
              </a:rPr>
              <a:t>Mobile or Web Dashboard:</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 web or mobile application can be developed to monitor traffic conditions and control signals remotely</a:t>
            </a:r>
          </a:p>
        </p:txBody>
      </p:sp>
      <p:sp>
        <p:nvSpPr>
          <p:cNvPr id="4" name="Footer Placeholder 3">
            <a:extLst>
              <a:ext uri="{FF2B5EF4-FFF2-40B4-BE49-F238E27FC236}">
                <a16:creationId xmlns:a16="http://schemas.microsoft.com/office/drawing/2014/main" id="{9FD1CBFF-FA79-0740-55E5-CAC5B5F015FD}"/>
              </a:ext>
            </a:extLst>
          </p:cNvPr>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B685C689-C783-8F34-8D64-AB694F0C10F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 y="6289992"/>
            <a:ext cx="1475105" cy="568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7824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83AF7-3012-2995-BCE7-53CA0DED64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76CE7-07F7-B86C-B89F-3732334617D7}"/>
              </a:ext>
            </a:extLst>
          </p:cNvPr>
          <p:cNvSpPr>
            <a:spLocks noGrp="1"/>
          </p:cNvSpPr>
          <p:nvPr>
            <p:ph type="title"/>
          </p:nvPr>
        </p:nvSpPr>
        <p:spPr/>
        <p:txBody>
          <a:bodyPr/>
          <a:lstStyle/>
          <a:p>
            <a:pPr algn="ctr"/>
            <a:r>
              <a:rPr lang="en-US" b="1" dirty="0">
                <a:latin typeface="Times New Roman" panose="02020603050405020304" pitchFamily="18" charset="0"/>
                <a:cs typeface="Times New Roman" pitchFamily="18" charset="0"/>
              </a:rPr>
              <a:t>References</a:t>
            </a:r>
          </a:p>
        </p:txBody>
      </p:sp>
      <p:sp>
        <p:nvSpPr>
          <p:cNvPr id="3" name="Content Placeholder 2">
            <a:extLst>
              <a:ext uri="{FF2B5EF4-FFF2-40B4-BE49-F238E27FC236}">
                <a16:creationId xmlns:a16="http://schemas.microsoft.com/office/drawing/2014/main" id="{E128CEF0-DE9E-19B3-0BC9-3C89A7825C09}"/>
              </a:ext>
            </a:extLst>
          </p:cNvPr>
          <p:cNvSpPr>
            <a:spLocks noGrp="1"/>
          </p:cNvSpPr>
          <p:nvPr>
            <p:ph idx="1"/>
          </p:nvPr>
        </p:nvSpPr>
        <p:spPr>
          <a:xfrm>
            <a:off x="838199" y="1487011"/>
            <a:ext cx="10515600" cy="4351338"/>
          </a:xfrm>
        </p:spPr>
        <p:txBody>
          <a:bodyPr/>
          <a:lstStyle/>
          <a:p>
            <a:r>
              <a:rPr lang="en-US" sz="1400" b="1" dirty="0">
                <a:latin typeface="Times New Roman" panose="02020603050405020304" pitchFamily="18" charset="0"/>
                <a:cs typeface="Times New Roman" panose="02020603050405020304" pitchFamily="18" charset="0"/>
              </a:rPr>
              <a:t>K. Dresner, P. </a:t>
            </a:r>
            <a:r>
              <a:rPr lang="en-US" sz="1400" b="1" dirty="0" err="1">
                <a:latin typeface="Times New Roman" panose="02020603050405020304" pitchFamily="18" charset="0"/>
                <a:cs typeface="Times New Roman" panose="02020603050405020304" pitchFamily="18" charset="0"/>
              </a:rPr>
              <a:t>Stone</a:t>
            </a:r>
            <a:r>
              <a:rPr lang="en-US" sz="1400" dirty="0" err="1">
                <a:latin typeface="Times New Roman" panose="02020603050405020304" pitchFamily="18" charset="0"/>
                <a:cs typeface="Times New Roman" panose="02020603050405020304" pitchFamily="18" charset="0"/>
              </a:rPr>
              <a:t>,“A</a:t>
            </a:r>
            <a:r>
              <a:rPr lang="en-US" sz="1400" dirty="0">
                <a:latin typeface="Times New Roman" panose="02020603050405020304" pitchFamily="18" charset="0"/>
                <a:cs typeface="Times New Roman" panose="02020603050405020304" pitchFamily="18" charset="0"/>
              </a:rPr>
              <a:t> Multiagent Approach to Autonomous Intersection Management,” </a:t>
            </a:r>
            <a:r>
              <a:rPr lang="en-US" sz="1400" i="1" dirty="0">
                <a:latin typeface="Times New Roman" panose="02020603050405020304" pitchFamily="18" charset="0"/>
                <a:cs typeface="Times New Roman" panose="02020603050405020304" pitchFamily="18" charset="0"/>
              </a:rPr>
              <a:t>Journal of Artificial Intelligence Research</a:t>
            </a:r>
            <a:r>
              <a:rPr lang="en-US" sz="1400" dirty="0">
                <a:latin typeface="Times New Roman" panose="02020603050405020304" pitchFamily="18" charset="0"/>
                <a:cs typeface="Times New Roman" panose="02020603050405020304" pitchFamily="18" charset="0"/>
              </a:rPr>
              <a:t>, Vol. 31, pp. 591–656, 2014.</a:t>
            </a:r>
          </a:p>
          <a:p>
            <a:r>
              <a:rPr lang="en-US" sz="1400" b="1" dirty="0">
                <a:latin typeface="Times New Roman" panose="02020603050405020304" pitchFamily="18" charset="0"/>
                <a:cs typeface="Times New Roman" panose="02020603050405020304" pitchFamily="18" charset="0"/>
              </a:rPr>
              <a:t>L. Li, Y. </a:t>
            </a:r>
            <a:r>
              <a:rPr lang="en-US" sz="1400" b="1" dirty="0" err="1">
                <a:latin typeface="Times New Roman" panose="02020603050405020304" pitchFamily="18" charset="0"/>
                <a:cs typeface="Times New Roman" panose="02020603050405020304" pitchFamily="18" charset="0"/>
              </a:rPr>
              <a:t>Lv</a:t>
            </a:r>
            <a:r>
              <a:rPr lang="en-US" sz="1400" b="1" dirty="0">
                <a:latin typeface="Times New Roman" panose="02020603050405020304" pitchFamily="18" charset="0"/>
                <a:cs typeface="Times New Roman" panose="02020603050405020304" pitchFamily="18" charset="0"/>
              </a:rPr>
              <a:t>, F. Wang</a:t>
            </a:r>
            <a:r>
              <a:rPr lang="en-US" sz="1400" dirty="0">
                <a:latin typeface="Times New Roman" panose="02020603050405020304" pitchFamily="18" charset="0"/>
                <a:cs typeface="Times New Roman" panose="02020603050405020304" pitchFamily="18" charset="0"/>
              </a:rPr>
              <a:t>, “Traffic Signal Timing via Deep Reinforcement Learning,” </a:t>
            </a:r>
            <a:r>
              <a:rPr lang="en-US" sz="1400" i="1" dirty="0">
                <a:latin typeface="Times New Roman" panose="02020603050405020304" pitchFamily="18" charset="0"/>
                <a:cs typeface="Times New Roman" panose="02020603050405020304" pitchFamily="18" charset="0"/>
              </a:rPr>
              <a:t>IEEE/CAA Journal of </a:t>
            </a:r>
            <a:r>
              <a:rPr lang="en-US" sz="1400" i="1" dirty="0" err="1">
                <a:latin typeface="Times New Roman" panose="02020603050405020304" pitchFamily="18" charset="0"/>
                <a:cs typeface="Times New Roman" panose="02020603050405020304" pitchFamily="18" charset="0"/>
              </a:rPr>
              <a:t>Automatica</a:t>
            </a:r>
            <a:r>
              <a:rPr lang="en-US" sz="1400" i="1" dirty="0">
                <a:latin typeface="Times New Roman" panose="02020603050405020304" pitchFamily="18" charset="0"/>
                <a:cs typeface="Times New Roman" panose="02020603050405020304" pitchFamily="18" charset="0"/>
              </a:rPr>
              <a:t> Sinica</a:t>
            </a:r>
            <a:r>
              <a:rPr lang="en-US" sz="1400" dirty="0">
                <a:latin typeface="Times New Roman" panose="02020603050405020304" pitchFamily="18" charset="0"/>
                <a:cs typeface="Times New Roman" panose="02020603050405020304" pitchFamily="18" charset="0"/>
              </a:rPr>
              <a:t>, Vol. 3, No. 3, pp. 247–254, 2016.</a:t>
            </a:r>
          </a:p>
          <a:p>
            <a:r>
              <a:rPr lang="en-US" sz="1400" b="1" dirty="0">
                <a:latin typeface="Times New Roman" panose="02020603050405020304" pitchFamily="18" charset="0"/>
                <a:cs typeface="Times New Roman" panose="02020603050405020304" pitchFamily="18" charset="0"/>
              </a:rPr>
              <a:t>R. S. Sutton, A. G. Barto</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Reinforcement Learning: An Introduction</a:t>
            </a:r>
            <a:r>
              <a:rPr lang="en-US" sz="1400" dirty="0">
                <a:latin typeface="Times New Roman" panose="02020603050405020304" pitchFamily="18" charset="0"/>
                <a:cs typeface="Times New Roman" panose="02020603050405020304" pitchFamily="18" charset="0"/>
              </a:rPr>
              <a:t>, MIT Press, 2nd Edition, 2024.</a:t>
            </a:r>
          </a:p>
          <a:p>
            <a:r>
              <a:rPr lang="en-US" sz="1400" b="1" dirty="0">
                <a:latin typeface="Times New Roman" panose="02020603050405020304" pitchFamily="18" charset="0"/>
                <a:cs typeface="Times New Roman" panose="02020603050405020304" pitchFamily="18" charset="0"/>
              </a:rPr>
              <a:t>M. Abdoos, N., </a:t>
            </a:r>
            <a:r>
              <a:rPr lang="en-US" sz="1400" b="1" dirty="0" err="1">
                <a:latin typeface="Times New Roman" panose="02020603050405020304" pitchFamily="18" charset="0"/>
                <a:cs typeface="Times New Roman" panose="02020603050405020304" pitchFamily="18" charset="0"/>
              </a:rPr>
              <a:t>Mozayani</a:t>
            </a:r>
            <a:r>
              <a:rPr lang="en-US" sz="1400" b="1" dirty="0">
                <a:latin typeface="Times New Roman" panose="02020603050405020304" pitchFamily="18" charset="0"/>
                <a:cs typeface="Times New Roman" panose="02020603050405020304" pitchFamily="18" charset="0"/>
              </a:rPr>
              <a:t>, A. L. C. </a:t>
            </a:r>
            <a:r>
              <a:rPr lang="en-US" sz="1400" b="1" dirty="0" err="1">
                <a:latin typeface="Times New Roman" panose="02020603050405020304" pitchFamily="18" charset="0"/>
                <a:cs typeface="Times New Roman" panose="02020603050405020304" pitchFamily="18" charset="0"/>
              </a:rPr>
              <a:t>Bazzan</a:t>
            </a:r>
            <a:r>
              <a:rPr lang="en-US" sz="1400" dirty="0">
                <a:latin typeface="Times New Roman" panose="02020603050405020304" pitchFamily="18" charset="0"/>
                <a:cs typeface="Times New Roman" panose="02020603050405020304" pitchFamily="18" charset="0"/>
              </a:rPr>
              <a:t>,“Holonic Multi‑Agent System for Traffic Signals Control,” </a:t>
            </a:r>
            <a:r>
              <a:rPr lang="en-US" sz="1400" i="1" dirty="0">
                <a:latin typeface="Times New Roman" panose="02020603050405020304" pitchFamily="18" charset="0"/>
                <a:cs typeface="Times New Roman" panose="02020603050405020304" pitchFamily="18" charset="0"/>
              </a:rPr>
              <a:t>Engineering Applications of Artificial Intelligence</a:t>
            </a:r>
            <a:r>
              <a:rPr lang="en-US" sz="1400" dirty="0">
                <a:latin typeface="Times New Roman" panose="02020603050405020304" pitchFamily="18" charset="0"/>
                <a:cs typeface="Times New Roman" panose="02020603050405020304" pitchFamily="18" charset="0"/>
              </a:rPr>
              <a:t>, Vol. 26, pp. 1575–1587, 2016.</a:t>
            </a:r>
          </a:p>
          <a:p>
            <a:r>
              <a:rPr lang="en-US" sz="1400" b="1" dirty="0">
                <a:latin typeface="Times New Roman" panose="02020603050405020304" pitchFamily="18" charset="0"/>
                <a:cs typeface="Times New Roman" panose="02020603050405020304" pitchFamily="18" charset="0"/>
              </a:rPr>
              <a:t>S. El‑Tantawy, B. </a:t>
            </a:r>
            <a:r>
              <a:rPr lang="en-US" sz="1400" b="1" dirty="0" err="1">
                <a:latin typeface="Times New Roman" panose="02020603050405020304" pitchFamily="18" charset="0"/>
                <a:cs typeface="Times New Roman" panose="02020603050405020304" pitchFamily="18" charset="0"/>
              </a:rPr>
              <a:t>Abdulhai</a:t>
            </a:r>
            <a:r>
              <a:rPr lang="en-US" sz="1400" b="1" dirty="0">
                <a:latin typeface="Times New Roman" panose="02020603050405020304" pitchFamily="18" charset="0"/>
                <a:cs typeface="Times New Roman" panose="02020603050405020304" pitchFamily="18" charset="0"/>
              </a:rPr>
              <a:t>, H. </a:t>
            </a:r>
            <a:r>
              <a:rPr lang="en-US" sz="1400" b="1" dirty="0" err="1">
                <a:latin typeface="Times New Roman" panose="02020603050405020304" pitchFamily="18" charset="0"/>
                <a:cs typeface="Times New Roman" panose="02020603050405020304" pitchFamily="18" charset="0"/>
              </a:rPr>
              <a:t>Abdelgawad</a:t>
            </a:r>
            <a:r>
              <a:rPr lang="en-US" sz="1400" dirty="0" err="1">
                <a:latin typeface="Times New Roman" panose="02020603050405020304" pitchFamily="18" charset="0"/>
                <a:cs typeface="Times New Roman" panose="02020603050405020304" pitchFamily="18" charset="0"/>
              </a:rPr>
              <a:t>,“Multi</a:t>
            </a:r>
            <a:r>
              <a:rPr lang="en-US" sz="1400" dirty="0">
                <a:latin typeface="Times New Roman" panose="02020603050405020304" pitchFamily="18" charset="0"/>
                <a:cs typeface="Times New Roman" panose="02020603050405020304" pitchFamily="18" charset="0"/>
              </a:rPr>
              <a:t>‑Agent Reinforcement Learning for Integrated Network of Adaptive Traffic Signal Controllers,” </a:t>
            </a:r>
            <a:r>
              <a:rPr lang="en-US" sz="1400" i="1" dirty="0">
                <a:latin typeface="Times New Roman" panose="02020603050405020304" pitchFamily="18" charset="0"/>
                <a:cs typeface="Times New Roman" panose="02020603050405020304" pitchFamily="18" charset="0"/>
              </a:rPr>
              <a:t>Transportation Research Part C</a:t>
            </a:r>
            <a:r>
              <a:rPr lang="en-US" sz="1400" dirty="0">
                <a:latin typeface="Times New Roman" panose="02020603050405020304" pitchFamily="18" charset="0"/>
                <a:cs typeface="Times New Roman" panose="02020603050405020304" pitchFamily="18" charset="0"/>
              </a:rPr>
              <a:t>, Vol. 58, pp. 146–163, 2015.</a:t>
            </a:r>
          </a:p>
          <a:p>
            <a:r>
              <a:rPr lang="en-US" sz="1400" b="1" dirty="0">
                <a:latin typeface="Times New Roman" panose="02020603050405020304" pitchFamily="18" charset="0"/>
                <a:cs typeface="Times New Roman" panose="02020603050405020304" pitchFamily="18" charset="0"/>
              </a:rPr>
              <a:t>C. G. B. Lopes, B. E. A. P. Souza</a:t>
            </a:r>
            <a:r>
              <a:rPr lang="en-US" sz="1400" dirty="0">
                <a:latin typeface="Times New Roman" panose="02020603050405020304" pitchFamily="18" charset="0"/>
                <a:cs typeface="Times New Roman" panose="02020603050405020304" pitchFamily="18" charset="0"/>
              </a:rPr>
              <a:t>, “Smart Traffic Light Control System Using Machine Learning,” </a:t>
            </a:r>
            <a:r>
              <a:rPr lang="en-US" sz="1400" i="1" dirty="0">
                <a:latin typeface="Times New Roman" panose="02020603050405020304" pitchFamily="18" charset="0"/>
                <a:cs typeface="Times New Roman" panose="02020603050405020304" pitchFamily="18" charset="0"/>
              </a:rPr>
              <a:t>International Journal of Computer Applications</a:t>
            </a:r>
            <a:r>
              <a:rPr lang="en-US" sz="1400" dirty="0">
                <a:latin typeface="Times New Roman" panose="02020603050405020304" pitchFamily="18" charset="0"/>
                <a:cs typeface="Times New Roman" panose="02020603050405020304" pitchFamily="18" charset="0"/>
              </a:rPr>
              <a:t>, Vol. 179, No. 7, pp. 20–25, 2018.</a:t>
            </a:r>
          </a:p>
          <a:p>
            <a:r>
              <a:rPr lang="en-US" sz="1400" b="1" dirty="0">
                <a:latin typeface="Times New Roman" panose="02020603050405020304" pitchFamily="18" charset="0"/>
                <a:cs typeface="Times New Roman" panose="02020603050405020304" pitchFamily="18" charset="0"/>
              </a:rPr>
              <a:t>A. K. Pandey, S. Kumar</a:t>
            </a:r>
            <a:r>
              <a:rPr lang="en-US" sz="1400" dirty="0">
                <a:latin typeface="Times New Roman" panose="02020603050405020304" pitchFamily="18" charset="0"/>
                <a:cs typeface="Times New Roman" panose="02020603050405020304" pitchFamily="18" charset="0"/>
              </a:rPr>
              <a:t>, “Simulation of Traffic Flow Using Python and </a:t>
            </a:r>
            <a:r>
              <a:rPr lang="en-US" sz="1400" dirty="0" err="1">
                <a:latin typeface="Times New Roman" panose="02020603050405020304" pitchFamily="18" charset="0"/>
                <a:cs typeface="Times New Roman" panose="02020603050405020304" pitchFamily="18" charset="0"/>
              </a:rPr>
              <a:t>Pygame</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International Journal of Engineering Research &amp; Technology</a:t>
            </a:r>
            <a:r>
              <a:rPr lang="en-US" sz="1400" dirty="0">
                <a:latin typeface="Times New Roman" panose="02020603050405020304" pitchFamily="18" charset="0"/>
                <a:cs typeface="Times New Roman" panose="02020603050405020304" pitchFamily="18" charset="0"/>
              </a:rPr>
              <a:t>, Vol. 9, No. 5, pp. 120–124, 2024.</a:t>
            </a:r>
          </a:p>
          <a:p>
            <a:r>
              <a:rPr lang="en-US" sz="1400" b="1" dirty="0">
                <a:latin typeface="Times New Roman" panose="02020603050405020304" pitchFamily="18" charset="0"/>
                <a:cs typeface="Times New Roman" panose="02020603050405020304" pitchFamily="18" charset="0"/>
              </a:rPr>
              <a:t>D. Schrank, B. Eisele, T. Lomax</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Urban Mobility Report</a:t>
            </a:r>
            <a:r>
              <a:rPr lang="en-US" sz="1400" dirty="0">
                <a:latin typeface="Times New Roman" panose="02020603050405020304" pitchFamily="18" charset="0"/>
                <a:cs typeface="Times New Roman" panose="02020603050405020304" pitchFamily="18" charset="0"/>
              </a:rPr>
              <a:t>, Texas A&amp;M Transportation Institute, 2022.</a:t>
            </a:r>
          </a:p>
          <a:p>
            <a:r>
              <a:rPr lang="en-US" sz="1400" b="1" dirty="0">
                <a:latin typeface="Times New Roman" panose="02020603050405020304" pitchFamily="18" charset="0"/>
                <a:cs typeface="Times New Roman" panose="02020603050405020304" pitchFamily="18" charset="0"/>
              </a:rPr>
              <a:t>G. K. </a:t>
            </a:r>
            <a:r>
              <a:rPr lang="en-US" sz="1400" b="1" dirty="0" err="1">
                <a:latin typeface="Times New Roman" panose="02020603050405020304" pitchFamily="18" charset="0"/>
                <a:cs typeface="Times New Roman" panose="02020603050405020304" pitchFamily="18" charset="0"/>
              </a:rPr>
              <a:t>Zipparapu</a:t>
            </a:r>
            <a:r>
              <a:rPr lang="en-US" sz="1400" b="1" dirty="0">
                <a:latin typeface="Times New Roman" panose="02020603050405020304" pitchFamily="18" charset="0"/>
                <a:cs typeface="Times New Roman" panose="02020603050405020304" pitchFamily="18" charset="0"/>
              </a:rPr>
              <a:t>, A. R. K. Sastry</a:t>
            </a:r>
            <a:r>
              <a:rPr lang="en-US" sz="1400" dirty="0">
                <a:latin typeface="Times New Roman" panose="02020603050405020304" pitchFamily="18" charset="0"/>
                <a:cs typeface="Times New Roman" panose="02020603050405020304" pitchFamily="18" charset="0"/>
              </a:rPr>
              <a:t>, “Adaptive Traffic Signal Control Using Reinforcement Learning,” </a:t>
            </a:r>
            <a:r>
              <a:rPr lang="en-US" sz="1400" i="1" dirty="0">
                <a:latin typeface="Times New Roman" panose="02020603050405020304" pitchFamily="18" charset="0"/>
                <a:cs typeface="Times New Roman" panose="02020603050405020304" pitchFamily="18" charset="0"/>
              </a:rPr>
              <a:t>IEEE Conference on Intelligent Transportation Systems</a:t>
            </a:r>
            <a:r>
              <a:rPr lang="en-US" sz="1400" dirty="0">
                <a:latin typeface="Times New Roman" panose="02020603050405020304" pitchFamily="18" charset="0"/>
                <a:cs typeface="Times New Roman" panose="02020603050405020304" pitchFamily="18" charset="0"/>
              </a:rPr>
              <a:t>, pp. 1–6, 2018.</a:t>
            </a:r>
          </a:p>
          <a:p>
            <a:r>
              <a:rPr lang="en-US" sz="1400" b="1" dirty="0">
                <a:latin typeface="Times New Roman" panose="02020603050405020304" pitchFamily="18" charset="0"/>
                <a:cs typeface="Times New Roman" panose="02020603050405020304" pitchFamily="18" charset="0"/>
              </a:rPr>
              <a:t>Python Software Foundation</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Python Documentation</a:t>
            </a:r>
            <a:r>
              <a:rPr lang="en-US" sz="1400" dirty="0">
                <a:latin typeface="Times New Roman" panose="02020603050405020304" pitchFamily="18" charset="0"/>
                <a:cs typeface="Times New Roman" panose="02020603050405020304" pitchFamily="18" charset="0"/>
              </a:rPr>
              <a:t>, Official Documentation, 2025.</a:t>
            </a:r>
          </a:p>
        </p:txBody>
      </p:sp>
      <p:sp>
        <p:nvSpPr>
          <p:cNvPr id="4" name="Footer Placeholder 3">
            <a:extLst>
              <a:ext uri="{FF2B5EF4-FFF2-40B4-BE49-F238E27FC236}">
                <a16:creationId xmlns:a16="http://schemas.microsoft.com/office/drawing/2014/main" id="{1E211282-B216-4CD3-0666-6CC96137C21A}"/>
              </a:ext>
            </a:extLst>
          </p:cNvPr>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Department of Artificial (AI) Intelligence and Data Science</a:t>
            </a:r>
            <a:endParaRPr lang="en-IN" dirty="0">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515F3D66-223F-7233-CBAA-0086D49AD73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887" y="6178391"/>
            <a:ext cx="1444625" cy="628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15993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6" id="{9C3941B4-7005-47CC-917D-8B33494E3ADF}" vid="{2E4C9D48-078C-430E-841C-78A656F03147}"/>
    </a:ext>
  </a:extLst>
</a:theme>
</file>

<file path=docProps/app.xml><?xml version="1.0" encoding="utf-8"?>
<Properties xmlns="http://schemas.openxmlformats.org/officeDocument/2006/extended-properties" xmlns:vt="http://schemas.openxmlformats.org/officeDocument/2006/docPropsVTypes">
  <Template>sies template</Template>
  <TotalTime>200</TotalTime>
  <Words>2341</Words>
  <Application>Microsoft Office PowerPoint</Application>
  <PresentationFormat>Widescreen</PresentationFormat>
  <Paragraphs>236</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Aptos Display</vt:lpstr>
      <vt:lpstr>Arial</vt:lpstr>
      <vt:lpstr>Courier New</vt:lpstr>
      <vt:lpstr>Times New Roman</vt:lpstr>
      <vt:lpstr>Wingdings</vt:lpstr>
      <vt:lpstr>Office Theme</vt:lpstr>
      <vt:lpstr>PowerPoint Presentation</vt:lpstr>
      <vt:lpstr>Presentation Outline</vt:lpstr>
      <vt:lpstr>Introduction</vt:lpstr>
      <vt:lpstr>Introduction</vt:lpstr>
      <vt:lpstr>Introduction</vt:lpstr>
      <vt:lpstr>Problem Statement</vt:lpstr>
      <vt:lpstr>Objectives of the Project</vt:lpstr>
      <vt:lpstr> Literature Survey</vt:lpstr>
      <vt:lpstr> Literature Survey</vt:lpstr>
      <vt:lpstr>Proposed System</vt:lpstr>
      <vt:lpstr>Proposed System Architecture Diagram</vt:lpstr>
      <vt:lpstr>Methodology</vt:lpstr>
      <vt:lpstr>Methodology</vt:lpstr>
      <vt:lpstr>Methodology</vt:lpstr>
      <vt:lpstr>Results</vt:lpstr>
      <vt:lpstr>Results</vt:lpstr>
      <vt:lpstr>Results</vt:lpstr>
      <vt:lpstr>Conclusion</vt:lpstr>
      <vt:lpstr>Future scope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P D</cp:lastModifiedBy>
  <cp:revision>7</cp:revision>
  <dcterms:created xsi:type="dcterms:W3CDTF">2026-04-25T10:30:48Z</dcterms:created>
  <dcterms:modified xsi:type="dcterms:W3CDTF">2026-04-26T17:13:15Z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557036600EC646C789469422A42EB452_11</vt:lpwstr>
  </property>
  <property fmtid="{D5CDD505-2E9C-101B-9397-08002B2CF9AE}" pid="3" name="KSOProductBuildVer">
    <vt:lpwstr>1033-12.1.0.25242</vt:lpwstr>
  </property>
</Properties>
</file>